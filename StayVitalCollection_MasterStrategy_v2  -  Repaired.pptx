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364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11978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STAY VITAL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kern="0" spc="1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STRATEGY v2.0 — COMPLETE 12-MONTH EXECUTION BLUEPRINT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27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Creator → STR Empire → Brand Collection | Day-by-Day Playbook | STR Market Data | Entity &amp; Tax Strategy | 5-Year $1M+ Roadmap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657600"/>
            <a:ext cx="2148840" cy="914400"/>
          </a:xfrm>
          <a:prstGeom prst="rect">
            <a:avLst/>
          </a:prstGeom>
          <a:solidFill>
            <a:srgbClr val="162030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7307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PHASES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160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3657600"/>
            <a:ext cx="2148840" cy="914400"/>
          </a:xfrm>
          <a:prstGeom prst="rect">
            <a:avLst/>
          </a:prstGeom>
          <a:solidFill>
            <a:srgbClr val="162030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97480" y="37307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 SLIDES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4160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Detail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3657600"/>
            <a:ext cx="2148840" cy="914400"/>
          </a:xfrm>
          <a:prstGeom prst="rect">
            <a:avLst/>
          </a:prstGeom>
          <a:solidFill>
            <a:srgbClr val="162030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37307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STR MODELS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4160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&amp; $100-200K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60920" y="3657600"/>
            <a:ext cx="2148840" cy="914400"/>
          </a:xfrm>
          <a:prstGeom prst="rect">
            <a:avLst/>
          </a:prstGeom>
          <a:solidFill>
            <a:srgbClr val="162030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60920" y="37307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ENTITY MAP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60920" y="4160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 + S-Corp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92640" y="3657600"/>
            <a:ext cx="2148840" cy="914400"/>
          </a:xfrm>
          <a:prstGeom prst="rect">
            <a:avLst/>
          </a:prstGeom>
          <a:solidFill>
            <a:srgbClr val="162030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92640" y="37307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1-5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0" y="4160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$1M+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846320"/>
            <a:ext cx="3657600" cy="1554480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937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2920" y="5376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M1–3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97680" y="4846320"/>
            <a:ext cx="3657600" cy="1554480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34840" y="4937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434840" y="5376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M4–8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0" y="4846320"/>
            <a:ext cx="3657600" cy="1554480"/>
          </a:xfrm>
          <a:prstGeom prst="rect">
            <a:avLst/>
          </a:prstGeom>
          <a:solidFill>
            <a:srgbClr val="162030"/>
          </a:solidFill>
          <a:ln w="254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66760" y="4937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366760" y="5376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M9–12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2025–2030 GROWTH PLAN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IN THIS STRATEGY — 5 CORE MODULES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execute from Day 1 to Year 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1567160" cy="960120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640080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Day-by-Day Execution Plans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5270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checklists &amp; weekly rhythms for UGC (M1–3), STR (M4–8), and StayVital Brand (M9–12). Know exactly what to do every single day.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11567160" cy="960120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64008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1945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STR Investment Models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6243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A: Zero capital (co-hosting + rental arbitrage). MODEL B: $100–200K property purchase near NYC — Poconos, Catskills, Hudson Valley with live market data.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46120"/>
            <a:ext cx="11567160" cy="960120"/>
          </a:xfrm>
          <a:prstGeom prst="rect">
            <a:avLst/>
          </a:prstGeom>
          <a:solidFill>
            <a:srgbClr val="162030"/>
          </a:solidFill>
          <a:ln w="254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640080" cy="9601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291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05840" y="3337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Apps, Tools &amp; Resources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7216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curated tools across UGC creation, STR management, brand building, finance, automation, and marketing. Free tier noted for every tool.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343400"/>
            <a:ext cx="11567160" cy="960120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4343400"/>
            <a:ext cx="64008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3891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05840" y="4434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&amp; Tax Strategy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48188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 vs S-Corp analysis, recommended 3-entity structure for UGC+STR+Brand, STR tax loophole, cost segregation, and maximum legal deductions.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5440680"/>
            <a:ext cx="11567160" cy="960120"/>
          </a:xfrm>
          <a:prstGeom prst="rect">
            <a:avLst/>
          </a:prstGeom>
          <a:solidFill>
            <a:srgbClr val="162030"/>
          </a:solidFill>
          <a:ln w="254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5440680"/>
            <a:ext cx="640080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54864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005840" y="5532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Plan + Years 2–5 to $1M+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05840" y="591616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Year 1 month-by-month + 5-year compounding growth model showing the path from $0 to $1M+ in annual revenue through scale and brand equity.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1A: UGC WEEKLY EXECUTION RHYTHM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every week of Months 1–3. Adjust volume as income grows.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5760720" cy="1325880"/>
          </a:xfrm>
          <a:prstGeom prst="rect">
            <a:avLst/>
          </a:prstGeom>
          <a:solidFill>
            <a:srgbClr val="162030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1005840" cy="1325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09728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499616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53312" y="11155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10 DTC brands on TikTok/IG needing UGC (wellness, beauty, home, fitness)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53312" y="13533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 decision-maker emails using Hunter.io or LinkedIn (CEO/CMO of smaller brands)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53312" y="15910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10 cold email pitches — subject: 'UGC for [BrandName] — Quick Win'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53312" y="18288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DM 5 brands on Instagram with short pitch + portfolio link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353312" y="20665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all outreach in Notion tracker (brand, contact, date, follow-up date)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41448"/>
            <a:ext cx="5760720" cy="1325880"/>
          </a:xfrm>
          <a:prstGeom prst="rect">
            <a:avLst/>
          </a:prstGeom>
          <a:solidFill>
            <a:srgbClr val="162030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441448"/>
            <a:ext cx="1005840" cy="1325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2608" y="251460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" y="2916936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+ ADMIN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53312" y="25328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 up on last week's Monday pitches (48hr rule — 70% of deals come from follow-up)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53312" y="27706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Respond to any brand inquiries, send rate card + portfolio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53312" y="3008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5 new pitches to brands discovered Tuesday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353312" y="3246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your Notion/Trello board: won, pending, rejected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53312" y="34838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1 piece of content to your @StayVitalCollection IG or TikTok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858768"/>
            <a:ext cx="5760720" cy="1325880"/>
          </a:xfrm>
          <a:prstGeom prst="rect">
            <a:avLst/>
          </a:prstGeom>
          <a:solidFill>
            <a:srgbClr val="162030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858768"/>
            <a:ext cx="1005840" cy="1325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2608" y="393192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" y="4334256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DAY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53312" y="39502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Film 2–3 UGC videos for active clients (batch shoot in AM while light is good)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53312" y="4187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CapCut to edit — hook in first 3 sec, product demo, CTA end card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353312" y="44256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drafts to Google Drive and send to client for review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353312" y="46634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Film 1 spec ad for portfolio (no client = create one for a brand you'd want to work with)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353312" y="4901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1 StayVital brand video (your journey, wellness tip, behind the scenes)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5276088"/>
            <a:ext cx="5760720" cy="1325880"/>
          </a:xfrm>
          <a:prstGeom prst="rect">
            <a:avLst/>
          </a:prstGeom>
          <a:solidFill>
            <a:srgbClr val="162030"/>
          </a:solidFill>
          <a:ln w="1905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5276088"/>
            <a:ext cx="1005840" cy="1325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92608" y="534924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THU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92608" y="5751576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+ CLIENT CARE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53312" y="53675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 finalized videos to clients based on feedback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353312" y="56052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Invoice all completed work (use Wave — free invoicing)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353312" y="58430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Check: any rush orders, revisions, or new briefs from retainer clients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353312" y="60807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Engage with 20 target accounts on IG/TikTok (genuine comments, not emoji-only)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353312" y="63185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one new UGC platform or marketplace to list on (Billo, Insense, Minea)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63640" y="1024128"/>
            <a:ext cx="5760720" cy="1325880"/>
          </a:xfrm>
          <a:prstGeom prst="rect">
            <a:avLst/>
          </a:prstGeom>
          <a:solidFill>
            <a:srgbClr val="162030"/>
          </a:solidFill>
          <a:ln w="19050">
            <a:solidFill>
              <a:srgbClr val="2DCE8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63640" y="1024128"/>
            <a:ext cx="1005840" cy="1325880"/>
          </a:xfrm>
          <a:prstGeom prst="rect">
            <a:avLst/>
          </a:prstGeom>
          <a:solidFill>
            <a:srgbClr val="2DCE89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81928" y="109728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81928" y="1499616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+ MONEY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42632" y="11155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Review: pitches sent, response rate, income earned this week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42632" y="13533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Collect any outstanding payments — follow up with late payers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42632" y="15910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next week's income goal and outreach target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342632" y="18288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Watch 2 top-performing UGC ads in your niche (TikTok Creative Center — free)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342632" y="20665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 content calendar for next week (StayVital + client content)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63640" y="2441448"/>
            <a:ext cx="5760720" cy="1325880"/>
          </a:xfrm>
          <a:prstGeom prst="rect">
            <a:avLst/>
          </a:prstGeom>
          <a:solidFill>
            <a:srgbClr val="162030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263640" y="2441448"/>
            <a:ext cx="1005840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81928" y="251460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281928" y="2916936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+ BUILD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342632" y="25328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film 3–5 spec ads to build portfolio depth (wellness, lifestyle, home goods)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342632" y="27706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STR markets (AirDNA, Rabbu, BiggerPockets) — build future income knowledge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342632" y="3008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Engage in 2 UGC creator communities online (Facebook groups, Discord)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342632" y="3246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2 pieces of content to social (one talking head, one aesthetic product shot)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342632" y="34838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your rates — after 10+ jobs, raise by 20%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74320" y="5276088"/>
            <a:ext cx="11612880" cy="1325880"/>
          </a:xfrm>
          <a:prstGeom prst="rect">
            <a:avLst/>
          </a:prstGeom>
          <a:solidFill>
            <a:srgbClr val="162030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74320" y="5276088"/>
            <a:ext cx="1005840" cy="1325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92608" y="5349240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292608" y="567842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+ REVIEW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371600" y="53309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— protect your creative energy. No pitching or filming.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371600" y="57150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reflection: What worked? What didn't? Revenue vs. goal?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371600" y="60990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Prepare Monday's outreach list (10 brands researched, emails drafted)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583680" y="53309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Listen to 1 podcast (My First Million, How I Built This, STR Wealth Show)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583680" y="57150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Visualize the StayVital brand — what does Month 12 look like?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1B: MONTH 1 DAILY CHECKLIST — UGC LAUNCH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First paid UGC client. $200–$500 earned. Portfolio live.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22960" cy="1737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332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987552"/>
            <a:ext cx="1965960" cy="1737360"/>
          </a:xfrm>
          <a:prstGeom prst="rect">
            <a:avLst/>
          </a:prstGeom>
          <a:solidFill>
            <a:srgbClr val="162030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52728" y="1033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52728" y="1307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@StayVitalCollection on IG + TikTok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52728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CapCut + Canva (both free)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52728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Film 3 spec UGC videos with your phone — unboxing or product demo style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52728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free Notion portfolio page with your 3 videos embedded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52728" y="2441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your UGC pitch email template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987552"/>
            <a:ext cx="1965960" cy="1737360"/>
          </a:xfrm>
          <a:prstGeom prst="rect">
            <a:avLst/>
          </a:prstGeom>
          <a:solidFill>
            <a:srgbClr val="162030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55848" y="1033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1307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20 DTC brands in wellness/beauty/home on TikTok ads library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55848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 emails for 10 of them via Hunter.io (free 25/mo)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55848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first 10 pitch emails with portfolio link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55848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first IG Reel showing your UGC style + caption your 'why'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94960" y="987552"/>
            <a:ext cx="1965960" cy="1737360"/>
          </a:xfrm>
          <a:prstGeom prst="rect">
            <a:avLst/>
          </a:prstGeom>
          <a:solidFill>
            <a:srgbClr val="162030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58968" y="1033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58968" y="1307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Film 2 more spec ads (different niches — beauty + fitness)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58968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to portfolio page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58968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DM 10 brands on Instagram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58968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 up for Billo.app and create creator profile (free)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98080" y="987552"/>
            <a:ext cx="1965960" cy="1737360"/>
          </a:xfrm>
          <a:prstGeom prst="rect">
            <a:avLst/>
          </a:prstGeom>
          <a:solidFill>
            <a:srgbClr val="162030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62088" y="1033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62088" y="1307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 up with Day 2 email pitches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562088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10 more brands to pitch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562088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10 new pitches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62088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Film + post 1 StayVital brand video (your journey story)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601200" y="987552"/>
            <a:ext cx="1965960" cy="1737360"/>
          </a:xfrm>
          <a:prstGeom prst="rect">
            <a:avLst/>
          </a:prstGeom>
          <a:solidFill>
            <a:srgbClr val="162030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665208" y="1033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65208" y="1307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 on Fiverr: 'UGC Videos for DTC Brands' (free to list)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665208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 on Contra + Freelancer.com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665208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spec video to IG Reel + TikTok simultaneously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665208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Reply to all DMs, emails, and engagement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1704320" y="987552"/>
            <a:ext cx="1965960" cy="1737360"/>
          </a:xfrm>
          <a:prstGeom prst="rect">
            <a:avLst/>
          </a:prstGeom>
          <a:solidFill>
            <a:srgbClr val="162030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1768328" y="1033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6–7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768328" y="1307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film 3 more spec ads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768328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15 pitches (aim for 50 total by end of week)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768328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Sunday — reflect on what's working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768328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 Week 2 outreach list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2862072"/>
            <a:ext cx="822960" cy="1737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29077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74320" y="34107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Clients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188720" y="2862072"/>
            <a:ext cx="1965960" cy="1737360"/>
          </a:xfrm>
          <a:prstGeom prst="rect">
            <a:avLst/>
          </a:prstGeom>
          <a:solidFill>
            <a:srgbClr val="162030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252728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252728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 up all Week 1 pitches (subject: 'Checking in — quick question')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252728" y="3465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10 new pitches to brands with active paid ad campaigns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252728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TikTok Creative Center for trending UGC hooks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252728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portfolio with newest videos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91840" y="2862072"/>
            <a:ext cx="1965960" cy="1737360"/>
          </a:xfrm>
          <a:prstGeom prst="rect">
            <a:avLst/>
          </a:prstGeom>
          <a:solidFill>
            <a:srgbClr val="162030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355848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9–10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355848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 first spec ad revision if any brand has responded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355848" y="3465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GOAL: Book your first paid UGC gig this week ($50–$150)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355848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Film for any client who booked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355848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2 pieces of social content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394960" y="2862072"/>
            <a:ext cx="1965960" cy="1737360"/>
          </a:xfrm>
          <a:prstGeom prst="rect">
            <a:avLst/>
          </a:prstGeom>
          <a:solidFill>
            <a:srgbClr val="162030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458968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11–12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458968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invoices for completed work via Wave (free)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458968" y="3465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retainer model — pitch 'monthly UGC package' to interested clients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458968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Engage with UGC creator communities (FB: 'UGC Creators Collective')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498080" y="2862072"/>
            <a:ext cx="1965960" cy="1737360"/>
          </a:xfrm>
          <a:prstGeom prst="rect">
            <a:avLst/>
          </a:prstGeom>
          <a:solidFill>
            <a:srgbClr val="162030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562088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562088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 all client videos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562088" y="3465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Collect first payment — celebrate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562088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a social update on StayVital: 'Week 2 in the build'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562088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Airbnb co-hosting opportunity in your local area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74320" y="4736592"/>
            <a:ext cx="822960" cy="1737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74320" y="47823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3–4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74320" y="52852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Optimize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188720" y="4736592"/>
            <a:ext cx="1965960" cy="1737360"/>
          </a:xfrm>
          <a:prstGeom prst="rect">
            <a:avLst/>
          </a:prstGeom>
          <a:solidFill>
            <a:srgbClr val="162030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252728" y="4782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Focus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252728" y="5056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 outreach to 15 pitches/day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252728" y="5340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Raise rates to $75–$125/video after 3 completed gigs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252728" y="5623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UGC packages: Basic ($75), Standard ($150), Premium ($300)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252728" y="5907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Film, deliver, collect — optimize your production flow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291840" y="4736592"/>
            <a:ext cx="1965960" cy="1737360"/>
          </a:xfrm>
          <a:prstGeom prst="rect">
            <a:avLst/>
          </a:prstGeom>
          <a:solidFill>
            <a:srgbClr val="162030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355848" y="4782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Goal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355848" y="5056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 1 retainer client ($300–$600/mo for 3–4 videos)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3355848" y="5340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Month 1 target: $200–$500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3355848" y="5623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Begin STR market research (Poconos, Catskills, local rentals)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3355848" y="5907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every day — document your build publicly on StayVital IG/TikTok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1C: MONTHS 2–3 CHECKLISTS — UGC SCALE &amp; SYSTEMIZE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Target: $500–$1,500 | Month 3 Target: $1,500–$3,000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486400" cy="5394960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48640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4241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2 — SCALE OPERATIONS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5–6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7393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Pitch 15/day — hit 100 total pitches sent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4825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Add 2 UGC platforms: Insense.pro, Minea.com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2257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Negotiate first retainer: 3 videos/mo for $400–$600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59689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Begin niche specialization (wellness is your lane)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Raise base rate to $100–$150/video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145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7–8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43814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Systemize delivery: template briefs, revision policy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71246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Film 8–10 videos this month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98678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Hit $800–$1,500 income target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26110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Open business checking account (Relay — free)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53542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Start tracking ALL income and expenses in spreadsheet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8097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KPIs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510235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Pitches sent: 100+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537667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Active clients: 3–5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565099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Retainer client(s): 1+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592531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Monthly revenue: $800–$1,500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619963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StayVital followers: 500+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1005840"/>
            <a:ext cx="5806440" cy="5394960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1005840"/>
            <a:ext cx="58064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1042416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3 — OPTIMIZE &amp; TRANSITION TO STR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1481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9–10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1773936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Lock in 2–3 retainer clients ($400–800/mo each)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2048256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Build recurring revenue base before adding STR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2322576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Create rate card PDF (send in every pitch)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596896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Post case study content: 'Client results' on StayVital social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2871216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Research STR co-hosting: contact 5 STR owners on BiggerPockets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31455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11–12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3438144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Hand off lower-tier clients to VA or sub-contractor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3712464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Focus on high-value ($200–400/video) clients only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3986784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Begin onboarding first STR co-host client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4261104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Draft STR co-hosting agreement (LegalZoom template — $39)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4535424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Earn $1,500–$3,000 this month — save 30% for STR/brand fund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72200" y="48097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Milestones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72200" y="5102352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Monthly UGC revenue: $1,500–$3,000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72200" y="5376672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Retainer clients: 2–3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72200" y="5650992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StayVital following: 1,000+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72200" y="5925312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STR co-hosting pipeline: started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72200" y="6199632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Business fund saved: $500–$900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2A: STR MODEL A — ZERO CAPITAL ENTRY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Co-Hosting + Rental Arbitrage | Start Month 4 | No property ownership required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5532120" cy="5577840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55321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A: CO-HOSTING (Start Immediately)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465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STR properties for existing Airbnb hosts. They own it, you run it for 15–25% of revenue.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756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clients: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134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groups (STR Mastermind, Airbnb Hosts), BiggerPockets, Nextdoor, cold email to hosts with bad reviews.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6426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manage: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80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optimization, dynamic pricing (PriceLabs), guest messaging, cleaning coordination, review responses.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2095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earnings: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4472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$1,500/mo property @ 20% = $300/mo per unit. 5 units = $1,500/mo with minimal additional work.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776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needed: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0142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Hospitable ($30/mo), PriceLabs (free trial then $19.99/mo), Turno/TurnoverBnB (free scheduling).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Co-hosting agreement: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5811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written agreement. Template: BiggerPockets or hire Fiverr lawyer for $50. Cover: % of gross, scope, termination clause.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910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4–5 goal: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51480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2 co-hosting agreements. Earn $500–$1,000/mo. Use this cashflow to fund rental arbitrage deposit.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987552"/>
            <a:ext cx="5806440" cy="5577840"/>
          </a:xfrm>
          <a:prstGeom prst="rect">
            <a:avLst/>
          </a:prstGeom>
          <a:solidFill>
            <a:srgbClr val="162030"/>
          </a:solidFill>
          <a:ln w="254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35040" y="987552"/>
            <a:ext cx="580644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0" y="1024128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B: RENTAL ARBITRAGE (Month 4–5 With UGC Cash)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5087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17465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an apartment/house from a landlord, then sublet it on Airbnb/VRBO at a higher nightly rate.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0756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needed: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23134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month rent + security deposit ($1,500–$3,000) + basic furnishing ($1,500–$2,500 from FB Marketplace).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26426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 the landlord: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2880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them an Airbnb revenue projection from AirDNA. Offer to prepay 2 months rent. Add them as additional insured on policy.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32095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properties: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3447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1BR/studio apartments in STR-legal areas. Look for: separate entrance, good photos, safe neighborhood, near attractions.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3776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model: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40142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$1,200/mo lease + $300 operating costs. Airbnb at $120/night, 70% occupancy = $2,520/mo. Net: ~$1,020/mo profit.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45811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 → 3 units by Month 7. Each unit generating $800–$1,500/mo net = $2,400–$4,500/mo total.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4910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STR-legal markets: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5148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Poconos PA, Scottsdale AZ, Nashville TN, Savannah GA — avoid NYC (ban on &lt;30-day rentals without host present).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2B: STR MODEL B — $100–200K PROPERTY PURCHASE NEAR NYC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Market Analysis: Poconos | Catskills | Hudson Valley | Delaware Water Gap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DATA: Airbtics, AirDNA, AirROI (2024–2025) | Regulations: County Clerk &amp; STR Compliance Reports 2025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5760720" cy="2542032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5760720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893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POCONOS, PA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23360" y="1298448"/>
            <a:ext cx="18288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0" y="129844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BEST BET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911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81328" y="1737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81328" y="1911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96896" y="1737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96896" y="1911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$55K/yr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12464" y="1737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12464" y="1911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$150–$280K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1737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28032" y="1911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2402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C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54680" y="2240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24597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STR-friendly, low regulation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7157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+ 2hr from NYC, strong demand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Cabin + lake house aesthetic = premium rates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2278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Avg. daily rate among highest in region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54680" y="24597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Seasonal — peak summer/winter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54680" y="27157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HOA restrictions in some communities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54680" y="29718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46% occupancy = need pricing strategy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465576"/>
            <a:ext cx="5394960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4838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Best overall value. $180K cabin generating $55K/yr = strong ROI. Target: Tobyhanna, Pocono Summit, Buck Hill Falls (check HOA).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63640" y="1234440"/>
            <a:ext cx="5760720" cy="2542032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63640" y="1234440"/>
            <a:ext cx="5760720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55080" y="12893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CATSKILLS, NY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012680" y="1298448"/>
            <a:ext cx="18288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012680" y="129844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HIGH UPSIDE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1737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55080" y="1911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70648" y="1737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70648" y="1911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86216" y="1737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86216" y="1911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$42–68K/yr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701784" y="1737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701784" y="1911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$180–$350K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817352" y="1737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RATE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817352" y="1911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55080" y="22402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C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144000" y="2240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55080" y="24597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+ 51% occupancy — reliable year-round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55080" y="27157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NYC creative class drives demand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55080" y="29718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Strong brand story for StayVital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55080" y="32278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Farmhouse/cabin = high ADR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144000" y="24597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Ulster/Greene counties tightening regulations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144000" y="27157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Woodstock/Kingston: permit caps FULL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144000" y="29718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Must verify permit availability before buying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355080" y="3465576"/>
            <a:ext cx="5394960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400800" y="34838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Target: Sullivan County (Narrowsburg, Callicoon), Delaware County (Andes, Delhi). Less regulated than Ulster. Verify permits FIRST.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74320" y="3931920"/>
            <a:ext cx="5760720" cy="2542032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74320" y="3931920"/>
            <a:ext cx="5760720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65760" y="39867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HUDSON VALLEY, NY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023360" y="3995928"/>
            <a:ext cx="18288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023360" y="399592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PREMIUM PLAY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65760" y="4434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65760" y="4608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$218–$350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481328" y="4434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481328" y="4608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596896" y="4434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596896" y="4608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$42K avg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712464" y="4434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712464" y="4608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$280–$500K+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828032" y="4434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RATE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828032" y="4608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5–8%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365760" y="49377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C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154680" y="4937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65760" y="51572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+ 53% occupancy — highest consistency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65760" y="54132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Year-round cultural tourism (Storm King, Dia Beacon)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65760" y="5669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NYC weekenders drive premium pricing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365760" y="5925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Brand alignment with StayVital lifestyle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154680" y="51572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Higher purchase prices reduce cap rate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154680" y="54132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Many towns: owner-occupancy required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154680" y="56692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Rhinebeck, Beacon, Kingston: very restricted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65760" y="6163056"/>
            <a:ext cx="5394960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11480" y="61813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Best for brand prestige, lower cap rate. Target: Kerhonkson, Saugerties, Phoenicia (with permit research). Best if buying $200K+.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263640" y="3931920"/>
            <a:ext cx="5760720" cy="2542032"/>
          </a:xfrm>
          <a:prstGeom prst="rect">
            <a:avLst/>
          </a:prstGeom>
          <a:solidFill>
            <a:srgbClr val="162030"/>
          </a:solidFill>
          <a:ln w="254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263640" y="3931920"/>
            <a:ext cx="5760720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355080" y="39867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DELAWARE WATER GAP, NJ/PA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10012680" y="3995928"/>
            <a:ext cx="182880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0012680" y="399592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HIDDEN GEM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6355080" y="4434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355080" y="4608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$180–$250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7470648" y="4434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7470648" y="4608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8586216" y="4434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586216" y="4608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$35–$50K/yr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9701784" y="4434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9701784" y="4608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$120–$200K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10817352" y="4434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RATE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10817352" y="4608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9–14%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6355080" y="49377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C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9144000" y="4937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355080" y="51572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+ 55% occupancy — highest consistency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6355080" y="54132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Most affordable entry in region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55080" y="5669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+ 1.5hr from NYC via NJ Transit + car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6355080" y="5925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Low competition vs. Poconos/Catskills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9144000" y="51572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Less brand recognition than Catskills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9144000" y="54132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Limited luxury market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9144000" y="56692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Smaller guest volume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6355080" y="6163056"/>
            <a:ext cx="5394960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6400800" y="61813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Best entry point for first purchase under $150K. Target: Blairstown NJ, Delaware Township PA, Columbia NJ. Low reg, high yield.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 PURCHASE MODEL: FINANCIAL BREAKDOWN — TWO SCENARIOS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projections using 2024–2025 market data. Consult STR-specialist lender before purchasing.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577840" cy="5577840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5778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4241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SCENARIO A: $150K POCONOS CABIN (3BR)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0440" y="1508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$150,000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013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Payment (20%)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801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0939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093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$120,000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386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(7%, 30yr)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386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$798/mo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6791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+ Taxes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2679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$300/mo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+ Supplies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971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$400/mo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2644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Fees (3%)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3264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~$140/mo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5570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Management/Tools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3557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$100/mo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8496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3849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$1,738/mo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142232"/>
            <a:ext cx="5212080" cy="182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434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(Poconos avg.)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4434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$329/night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727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Target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20440" y="47274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(201 nights)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50200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Annual Revenue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5020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$66,129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53126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Gross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20440" y="5312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$5,511/mo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5605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NET (before tax)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20440" y="5605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$3,773/mo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5897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5897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$45,276/yr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6190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Cash-on-Cash ROI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20440" y="6190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on $30K down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1005840"/>
            <a:ext cx="5715000" cy="5577840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26480" y="1005840"/>
            <a:ext cx="571500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17920" y="104241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SCENARIO B: $185K CATSKILLS FARMHOUSE (4BR)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63640" y="1508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Price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372600" y="15087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$185,000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18013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Payment (20%)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372600" y="18013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$37,000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63640" y="20939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372600" y="20939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$148,000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63640" y="2386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(7%, 30yr)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372600" y="23865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$985/mo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63640" y="26791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+ Taxes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372600" y="26791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$380/mo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6364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+ Supplies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372600" y="29718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$500/mo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63640" y="32644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Fees (3%)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372600" y="32644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~$165/mo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63640" y="35570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Management/Tools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372600" y="35570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$120/mo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63640" y="38496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372600" y="38496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$2,150/mo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63640" y="4142232"/>
            <a:ext cx="5394960" cy="182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263640" y="4434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(Catskills avg.)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372600" y="4434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$317/night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63640" y="4727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Target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9372600" y="47274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(201 nights)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263640" y="50200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Annual Revenue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372600" y="50200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$63,717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263640" y="53126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Gross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372600" y="5312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$5,310/mo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263640" y="5605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NET (before tax)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372600" y="56052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$3,160/mo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263640" y="5897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NET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372600" y="58978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$37,920/yr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263640" y="6190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Cash-on-Cash ROI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372600" y="61904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 on $37K down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" y="6510528"/>
            <a:ext cx="11567160" cy="256032"/>
          </a:xfrm>
          <a:prstGeom prst="rect">
            <a:avLst/>
          </a:prstGeom>
          <a:solidFill>
            <a:srgbClr val="0A1520"/>
          </a:solidFill>
          <a:ln w="63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65760" y="6519672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Mortgage rates fluctuate. Use DSCR loans (no income verification) or conventional. STR-specialist lenders: Kiavi, Visio, Lima One Capital. Always verify local STR permits before closing.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2C: STR MONTHLY CHECKLISTS — MONTHS 4–8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alongside UGC income. Build, optimize, automate.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760720" cy="1901952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76072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M4 — CO-HOST LAUNCH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Join 3 STR Facebook groups — post offering co-hosting services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Contact 10 local Airbnb hosts with 3.5★ or lower (they need help)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Sign first co-hosting agreement (15–20% of gross revenue)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048256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Set up Hospitable account — link to host's Airbnb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249424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Implement PriceLabs dynamic pricing on managed listings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450592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Maintain UGC retainer clients (don't drop the ball here)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65176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Month 4 income target: UGC $2,500 + STR $500 = $3,000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5760720" cy="1901952"/>
          </a:xfrm>
          <a:prstGeom prst="rect">
            <a:avLst/>
          </a:prstGeom>
          <a:solidFill>
            <a:srgbClr val="162030"/>
          </a:solidFill>
          <a:ln w="254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5760720" cy="365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M5 — ARBITRAGE BEGINS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456432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Sign first rental arbitrage lease ($900–$1,200/mo)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65760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Furnish unit: budget $1,500–$2,500 (FB Marketplace + IKEA)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858768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Create listing: professional iPhone photos, SEO title, full amenity list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059936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Submit to Airbnb + VRBO + Booking.com (triple exposure)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261104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Set minimum 3-night stay initially to reduce cleaning overhead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462272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Install smart lock (Schlage Encode ~$150), noise monitor, Ring doorbell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Month 5 target: UGC $2,500 + STR $1,500 = $4,000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5029200"/>
            <a:ext cx="5760720" cy="1901952"/>
          </a:xfrm>
          <a:prstGeom prst="rect">
            <a:avLst/>
          </a:prstGeom>
          <a:solidFill>
            <a:srgbClr val="162030"/>
          </a:solidFill>
          <a:ln w="25400">
            <a:solidFill>
              <a:srgbClr val="2DCE8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5029200"/>
            <a:ext cx="5760720" cy="365760"/>
          </a:xfrm>
          <a:prstGeom prst="rect">
            <a:avLst/>
          </a:prstGeom>
          <a:solidFill>
            <a:srgbClr val="2DCE89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5074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M6 — OPTIMIZE &amp; SCALE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5468112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Review listing analytics: conversion rate, views vs. bookings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566928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Respond to all reviews within 24 hours (boosts search ranking)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5870448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A/B test listing title — try 2 versions over 2-week periods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6071616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Add amenities to boost ranking: workspace, EV charger, hot tub (if possible)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6272784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Hire part-time cleaner via Turno (stop doing it yourself)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6473952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Begin searching for 2nd arbitrage unit or 2nd co-host deal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667512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Month 6 target: $3,000 STR + $3,000 UGC = $6,000 total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1005840"/>
            <a:ext cx="5760720" cy="1901952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63640" y="1005840"/>
            <a:ext cx="576072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55080" y="1051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M7 — SECOND UNIT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55080" y="1444752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Sign 2nd arbitrage lease OR add 2nd co-hosting client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55080" y="164592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Create SOPs (standard operating procedures) for cleaners/VAs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55080" y="1847088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Hire a part-time VA ($5–$8/hr on Upwork) for guest messaging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55080" y="2048256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Order StayVital branded items for STR units (towels, candles, welcome card)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55080" y="2249424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Begin researching StayVital product line — test 1 POD item (Printful)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55080" y="2450592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Month 7 target: $4,500 STR + $3,000 UGC = $7,500 total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3017520"/>
            <a:ext cx="5760720" cy="1901952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263640" y="3017520"/>
            <a:ext cx="576072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55080" y="3063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M8 — STABILIZE &amp; BRAND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55080" y="3456432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STR revenue now primary income — UGC becomes supplemental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55080" y="365760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Brand STR interiors with StayVital aesthetic: art, amenity kit, welcome book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55080" y="3858768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Shoot content in STR unit — this IS your brand studio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55080" y="4059936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Begin building Shopify store (Month 9 launch)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55080" y="4261104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Create waitlist email for 'StayVitalCollection' brand launch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355080" y="4462272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Hire bookkeeper or use REI Hub for STR accounting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55080" y="466344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Month 8 target: $6,000 STR + $2,000 UGC = $8,000 total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3: STAYVITALCOLLECTION BRAND — MONTHS 9–12 CHECKLIST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brand while STR runs on autopilot. This is where passive meets scalable.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5760720" cy="2743200"/>
          </a:xfrm>
          <a:prstGeom prst="rect">
            <a:avLst/>
          </a:prstGeom>
          <a:solidFill>
            <a:srgbClr val="162030"/>
          </a:solidFill>
          <a:ln w="254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576072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424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9 — CHECKLIST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Launch Shopify store: StayVitalCollection.com ($1/mo for 3 months)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Add first 3 POD products via Printful: tote bag, hoodie, wellness journal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Publish 'STR Starter Kit' PDF on Gumroad ($27–$47) — document your system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Film brand intro video for YouTube: 'How I Built a $8K/mo income in 8 months'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Post 1x/day on IG + TikTok featuring product in STR property setting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Build email list with lead magnet: '7-Day UGC Quick Start Guide' (free download)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3832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Income target: $8,500 (STR $6,000 + UGC $1,500 + Brand $500 + digital $500)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987552"/>
            <a:ext cx="5760720" cy="2743200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63640" y="987552"/>
            <a:ext cx="57607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10424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10 — CHECKLIST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46304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Launch 'UGC Creator Crash Course' on Kajabi or Teachable ($97–$197 price point)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55080" y="17830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Reach out to 5 wellness brands for brand ambassador/affiliate deal (10–20% commission)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55080" y="210312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Submit StayVital for press coverage: local media, podcasts, 'build in public' niche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55080" y="242316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YouTube SEO: publish 2 videos targeting 'Airbnb side hustle' and 'UGC tutorial'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55080" y="274320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Set up Meta/TikTok ads — $5/day test budget using your own UGC content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55080" y="306324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Add ConvertKit email automation: welcome sequence, weekly value email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33832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Income target: $10,000 (STR $6,500 + UGC $1,500 + Brand + Course $2,000)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867912"/>
            <a:ext cx="5760720" cy="2743200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867912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9227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11 — CHECKLIST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434340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Q4 holiday campaign: StayVital gift sets, wellness bundles ($45–$85 AOV)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6344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Soft-launch membership community: 'StayVital Inner Circle' at $27/mo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9834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Scale ad spend to $25–$50/day if ROAS (return on ad spend) &gt; 2x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530352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Hire a social media VA to handle posting + engagement (Upwork, $10–$15/hr)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562356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Begin researching 3rd STR property (either purchase or arbitrage)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594360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Create affiliate program: 20% commission for referrals to your course/products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626364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Income target: $13,000 (STR $7,000 + UGC $1,000 + Brand $5,000)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3867912"/>
            <a:ext cx="5760720" cy="2743200"/>
          </a:xfrm>
          <a:prstGeom prst="rect">
            <a:avLst/>
          </a:prstGeom>
          <a:solidFill>
            <a:srgbClr val="162030"/>
          </a:solidFill>
          <a:ln w="25400">
            <a:solidFill>
              <a:srgbClr val="2DCE8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63640" y="3867912"/>
            <a:ext cx="5760720" cy="384048"/>
          </a:xfrm>
          <a:prstGeom prst="rect">
            <a:avLst/>
          </a:prstGeom>
          <a:solidFill>
            <a:srgbClr val="2DCE89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55080" y="39227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12 — CHECKLIST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55080" y="434340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Year-end review: total income, expenses, net profit, brand equity built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55080" y="466344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File taxes — use entity structure (see Entity slide) for max deductions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55080" y="49834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Raise STR prices 10–15% — M12 should be your highest STR revenue month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55080" y="530352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Enroll membership enrollees into annual plan ($250/yr vs $324/yr — 2 months free)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55080" y="562356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Begin Year 2 planning: 3rd STR unit, brand product expansion, hire first employee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55080" y="594360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Publish Year 1 results as brand content: 'I made $X with zero investment — here's how'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55080" y="626364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Income target: $16,500 (STR $7,500 + UGC $1,000 + Brand $8,000)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3: TOOLS &amp; RESOURCES — UGC CREATION &amp; OUTREACH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below has a free tier or very low-cost entry. Start with the free column.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7607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4241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CREATION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1481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14813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7647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1764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764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video editor — templates, auto-captions, trending audio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121408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Video Editor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167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cuts, LUT color grading, cinematic look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523744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5694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InShot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2569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mobile edits, speed control, ratio adjustment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971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 Rush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83080" y="2971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mobile editor — syncs with desktop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328416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33741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83080" y="3374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FREE/PAID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3374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transcription, remove filler words, podcast editing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100584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63640" y="1005840"/>
            <a:ext cx="57607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5080" y="104241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&amp; DESIGN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1481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1481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32520" y="14813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55080" y="1719072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0" y="17647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1764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732520" y="1764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Portfolio, media kits, rate cards, thumbnails, social graphics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55080" y="2121408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0800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Express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0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732520" y="2167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templates, social posts, quick design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55080" y="2523744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00800" y="25694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72400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32520" y="2569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page, client CRM, content calendar, SOPs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55080" y="2926080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00800" y="2971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72400" y="2971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73252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IG/TikTok posts, best time to post, analytics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55080" y="3328416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00800" y="33741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Linktree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772400" y="3374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732520" y="3374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link hub — direct brands to portfolio + all profiles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388620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74320" y="3886200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65760" y="392277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OUTREACH &amp; CRM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65760" y="4361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783080" y="4361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743200" y="4361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4599432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11480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Hunter.io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783080" y="4645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25/mo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743200" y="4645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brand decision-maker emails from website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" y="5001768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11480" y="5047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Apollo.io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783080" y="5047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743200" y="5047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CRM + email sequences for brand outreach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5760" y="5404104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11480" y="544982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783080" y="5449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743200" y="5449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email — use separate biz email: hello@stayvital.co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65760" y="5806440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11480" y="5852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Mixmax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783080" y="5852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743200" y="5852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tracking — know when brands open your pitch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6208776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11480" y="62544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1783080" y="6254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2743200" y="6254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brand CMOs, marketing managers, founders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263640" y="388620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263640" y="3886200"/>
            <a:ext cx="576072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355080" y="392277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UGC MARKETPLACES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6355080" y="4361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772400" y="4361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732520" y="4361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55080" y="4599432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400800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Billo.app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7772400" y="4645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list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8732520" y="4645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UGC marketplace — brands post briefs, you apply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355080" y="5001768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400800" y="5047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Insense.pro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7772400" y="5047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8732520" y="5047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+ influencer marketplace with brief system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6355080" y="5404104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6400800" y="544982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Minea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7772400" y="5449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8732520" y="5449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winning ads — study what brands are spending on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55080" y="5806440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6400800" y="5852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Fiverr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7772400" y="5852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8732520" y="5852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UGC gig — passive inbound leads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355080" y="6208776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6400800" y="62544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7772400" y="6254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8732520" y="6254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marketplace — portfolio + payments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3 CONTINUED: STR MANAGEMENT, RESEARCH &amp; AUTOMATION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as much as possible. Your goal: 4 hours/week per property by Month 8.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4241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LISTING &amp; PRICING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1481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14813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7647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1764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(3% fee)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764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listing platform. Optimize title, photos, amenities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121408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VRBO / Vrbo.com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(5% fee)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167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ADR potential, less competition than Airbnb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523744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5694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(15% fee)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2569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guests, longer stays — add for volume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971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PriceLabs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83080" y="2971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$19.99/mo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AI — automatically raises rates on weekends/events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328416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33741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Wheelhouse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83080" y="3374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$19.99/mo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3374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to PriceLabs — better for Catskills/rural markets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100584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63640" y="1005840"/>
            <a:ext cx="57607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5080" y="104241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1481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1481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32520" y="14813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55080" y="1719072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0" y="17647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Hospitable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1764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$30/mo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732520" y="1764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guest messaging, review requests, cleaner alerts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55080" y="2121408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0800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0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$29/mo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732520" y="2167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PMS: multi-platform sync, unified inbox, reporting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55080" y="2523744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00800" y="25694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(TurnoverBnB)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72400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32520" y="2569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marketplace + schedule automation on booking sync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55080" y="2926080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00800" y="2971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Schlage Encode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72400" y="2971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73252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lock — self check-in, auto-generate codes per booking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55080" y="3328416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00800" y="33741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NoiseAware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772400" y="3374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$9/mo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732520" y="3374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monitor — protect your landlord relationship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388620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74320" y="3886200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65760" y="392277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RESEARCH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65760" y="4361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783080" y="4361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743200" y="4361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4599432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11480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AirDNA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783080" y="4645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limited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743200" y="4645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&amp; revenue data by ZIP code, comp analysis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" y="5001768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11480" y="5047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Rabbu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783080" y="5047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743200" y="5047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reports, revenue estimates, comparable listings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5760" y="5404104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11480" y="544982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Airbtics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783080" y="5449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limited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743200" y="5449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market data — used in this plan's research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65760" y="5806440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11480" y="5852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BNBCalc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783080" y="5852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743200" y="5852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ROI calculator — plug in any address for projections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6208776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11480" y="62544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AirROI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1783080" y="6254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2743200" y="6254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by city — ADR, occupancy, top listings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263640" y="388620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263640" y="3886200"/>
            <a:ext cx="576072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355080" y="392277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OPERATIONS &amp; FINANCE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6355080" y="4361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772400" y="4361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732520" y="4361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55080" y="4599432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400800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 Hub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7772400" y="4645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$14/mo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8732520" y="4645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STR-specific accounting — P&amp;L, Schedule E prep, reports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355080" y="5001768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400800" y="5047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7772400" y="5047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8732520" y="5047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banking — free checking, virtual cards, no fees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6355080" y="5404104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6400800" y="544982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Insurance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7772400" y="5449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8732520" y="5449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STR-specific policy — covers Airbnb gaps, $1M liability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55080" y="5806440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6400800" y="5852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Minoan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7772400" y="5852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8732520" y="5852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discounts on STR furnishings (West Elm, Pottery Barn)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355080" y="6208776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6400800" y="62544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VRBO Owner App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7772400" y="6254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8732520" y="6254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VRBO bookings from mobile — quick responses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3 CONTINUED: BRAND, ECOMMERCE, EDUCATION &amp; FINANCE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brand layer while STR generates income. These tools scale with you.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76072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4241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 &amp; ECOMMERCE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1481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14813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7647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1764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$1/3mo then $29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764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store — StayVitalCollection.com product sales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121408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Printful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+ % per sale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167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Print-on-demand fulfillment — no inventory, auto ship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523744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5694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Printify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2569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alternative — 800+ products, better margins on volume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971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Gumroad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83080" y="2971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(10% fee)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digital products: eBooks, templates, courses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328416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33741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Stan.store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83080" y="3374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$29/mo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3374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storefront — courses, links, digital products all-in-one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100584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63640" y="1005840"/>
            <a:ext cx="57607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5080" y="104241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EMAIL &amp; COMMUNITY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1481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1481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32520" y="14813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55080" y="1719072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0" y="17647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ConvertKit (Kit)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1764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1K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732520" y="1764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 — automation, landing pages, link pages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55080" y="2121408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0800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Mailchimp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0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500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732520" y="2167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blasts, simple automations, ecommerce integration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55080" y="2523744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00800" y="25694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Circle.so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72400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$49/mo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32520" y="2569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community platform — StayVital Inner Circle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55080" y="2926080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00800" y="2971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Kajabi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72400" y="2971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$55/mo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73252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All-in-one: course, email, community, landing pages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55080" y="3328416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00800" y="33741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Beehiiv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772400" y="3374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732520" y="3374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platform — growing monetizable audience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388620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74320" y="3886200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65760" y="392277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EDUCATION &amp; RESEARCH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65760" y="4361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783080" y="4361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743200" y="4361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4599432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11480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BiggerPockets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783080" y="4645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743200" y="4645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forums, deal analysis tools, community of investors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" y="5001768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11480" y="5047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783080" y="5047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743200" y="5047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Wealth Show, AirDNA channel, UGC creator tutorials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5760" y="5404104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11480" y="544982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783080" y="5449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$10–$15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743200" y="5449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hosting courses, UGC courses — always on sale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65760" y="5806440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11480" y="5852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783080" y="5852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FREE/PLUS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743200" y="5852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pitch emails, listing descriptions, social captions, SOPs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6208776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11480" y="62544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AI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1783080" y="6254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2743200" y="6254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research tool — market data, competitor analysis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263640" y="388620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2DCE8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263640" y="3886200"/>
            <a:ext cx="5760720" cy="384048"/>
          </a:xfrm>
          <a:prstGeom prst="rect">
            <a:avLst/>
          </a:prstGeom>
          <a:solidFill>
            <a:srgbClr val="2DCE89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355080" y="392277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&amp; FINANCE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6355080" y="4361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C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772400" y="4361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C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732520" y="4361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C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55080" y="4599432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400800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7772400" y="4645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8732520" y="4645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invoicing + accounting for freelance/UGC income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355080" y="5001768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400800" y="5047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Self-Employed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7772400" y="5047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$15/mo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8732520" y="5047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income, expenses, mileage for tax deductions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6355080" y="5404104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6400800" y="544982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7772400" y="5449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(2.9%)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8732520" y="5449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payments for courses, memberships, digital products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55080" y="5806440"/>
            <a:ext cx="5577840" cy="347472"/>
          </a:xfrm>
          <a:prstGeom prst="rect">
            <a:avLst/>
          </a:prstGeom>
          <a:solidFill>
            <a:srgbClr val="1A2B3C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6400800" y="5852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7772400" y="5852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$249/mo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8732520" y="5852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Bookkeeping service — worth it when earning $10K+/mo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355080" y="6208776"/>
            <a:ext cx="5577840" cy="347472"/>
          </a:xfrm>
          <a:prstGeom prst="rect">
            <a:avLst/>
          </a:prstGeom>
          <a:solidFill>
            <a:srgbClr val="162030"/>
          </a:solidFill>
          <a:ln w="381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6400800" y="62544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TaxWise / CPA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7772400" y="6254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8732520" y="6254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STR-specialist CPA for cost segregation + STR loophole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4: LLC vs. S-CORP — WHICH IS RIGHT FOR YOU?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Research-backed guidance. Always consult a CPA before forming entities. This is educational, not legal advice.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5303520" cy="5577840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53035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LLC (LIMITED LIABILITY COMPANY)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099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STR real estate, new businesses under $75K net income, anyone wanting simplicity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TREATMENT: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Pass-through by default. Single-member = Schedule C or E. Multi-member = Partnership return. NO double taxation.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5420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SPECIFIC: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7706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income from STR reported on Schedule E. If average stay &lt;7 days + material participation, treated as active business — allows offsetting W-2 income with depreciation losses.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FORM: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30098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$50–$500 depending on state. NY: $200. PA: $125. NJ: $125. Annual fees vary.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6027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FORMALITIES: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8313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Minimal. No payroll required. No board meetings. Operating agreement recommended but not required in most states.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1330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36168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assets protected from business liabilities. Each LLC creates a wall. Use separate LLCs for each STR property as you scale.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663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1031 EXCHANGE: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8920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LLCs can do 1031 exchanges to defer capital gains when selling STR properties. S-Corps CANNOT easily do this.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51937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54223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choice for ALL real estate holdings. Keep your STR properties in separate LLCs.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52160" y="987552"/>
            <a:ext cx="5989320" cy="5577840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52160" y="987552"/>
            <a:ext cx="59893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0" y="1024128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S-CORP ELECTION (LLC TAXED AS S-CORP)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89320" y="14813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9320" y="170992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businesses (UGC, brand ops, management company) earning $75K+ net income per year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89320" y="20116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TREATMENT: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9320" y="224028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Pass-through + ability to split income into salary vs. distributions. Only salary portion pays self-employment tax (15.3%), distributions do NOT.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89320" y="25420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89320" y="277063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an LLC. File Form 2553 with IRS to elect S-Corp status. Pay yourself 'reasonable salary' (e.g., $40K). Rest taken as distributions ($60K+ untaxed by SE).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89320" y="30723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SAVINGS EXAMPLE: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89320" y="330098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$100K net: LLC = $15,300 SE tax. S-Corp ($40K salary, $60K distrib.) = ~$6,120 SE tax. SAVE: ~$9,180/year.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89320" y="36027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COMPLEXITY: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89320" y="383133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run payroll (Gusto $40/mo). File S-Corp tax return (Form 1120-S, ~$500–$1,000 CPA fee). Follow corporate formalities.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89320" y="41330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ELECT: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89320" y="436168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your business nets over $50K–$75K/year, S-Corp election is usually worth it. Below that, extra costs outweigh savings.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89320" y="4663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REAL ESTATE: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89320" y="489204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hold investment properties in S-Corp. Loses 1031 exchange eligibility + passive loss benefits. Use LLC.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89320" y="5193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89320" y="542239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 S-Corp for your OPERATING company (UGC + Brand services). Keep real estate in separate LLC.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4: YOUR RECOMMENDED ENTITY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3-entity approach protects you, saves taxes, and positions you for scale. Form in order of income.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567160" cy="1508760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828800" cy="1508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607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ENTITY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FIRST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STAYVITAL MEDIA LLC (→ S-Corp when income &gt;$75K)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143560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Holds: UGC creator business + StayVitalCollection brand + digital products + courses + brand partnerships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71907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S-Corp (Form 2553) when earning $75K+ net. Pay yourself $45K salary, take remaining as distributions. Saves ~$8–12K/yr in SE tax.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11567160" cy="1508760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1828800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7980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ENTITY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Month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STAYVITAL PROPERTIES LLC (or one per property at scale)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0" y="3172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Holds: Rental arbitrage leases + STR co-hosting agreements + (eventually) owned STR properties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4564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as standard LLC (not S-Corp). Rental income is passive — no SE tax without election. Preserves 1031 exchange rights on future property purchases.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11567160" cy="1508760"/>
          </a:xfrm>
          <a:prstGeom prst="rect">
            <a:avLst/>
          </a:prstGeom>
          <a:solidFill>
            <a:srgbClr val="162030"/>
          </a:solidFill>
          <a:ln w="254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4480560"/>
            <a:ext cx="1828800" cy="15087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53542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ENTITY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4320" y="4983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Month 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STAYVITAL COLLECTION LLC (eCommerce + Membership + Products)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86000" y="491032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Holds: Shopify store, POD products, membership community, digital products, affiliate income, retail brand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519379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roll into Entity 1 (StayVital Media LLC) or keep separate for clean financials and potential future investment/sale of brand.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6172200"/>
            <a:ext cx="11567160" cy="566928"/>
          </a:xfrm>
          <a:prstGeom prst="rect">
            <a:avLst/>
          </a:prstGeom>
          <a:solidFill>
            <a:srgbClr val="0A1520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6208776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PRIORITY: Entity 1 (Day 1, ~$125–$200) → Entity 2 (Month 4, same cost) → Entity 3 (Month 9). Use ZenBusiness or Incfile (~$49 state + fee) or hire a local attorney for $500.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4: TAX STRATEGY — MAXIMIZE DEDUCTIONS ACROSS ALL 3 STREAMS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legal deductions. Always consult a CPA. Documentation is everything.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749040" cy="5623560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74904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424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UGC / BRAND DEDUCTIONS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4813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Phone bill (100% if used for business)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8653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Ring light, tripod, microphone, backdrop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249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Home office deduction (dedicated filming space)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6334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CapCut / Adobe Creative fees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017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Canva Pro, Later, Notion upgrades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401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Props purchased for UGC shoots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37856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Education: Udemy courses, coaching programs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4169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Meals with clients or collaborators (50%)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45537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Travel to brand events or meetings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" y="49377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Health insurance premiums (S-Corp owners)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53218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SEP-IRA contributions (up to $69K/yr, 2024)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57058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Home internet (business % of total usage)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1005840"/>
            <a:ext cx="3749040" cy="5623560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51960" y="1005840"/>
            <a:ext cx="37490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43400" y="10424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 / REAL ESTATE DEDUCTIONS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61688" y="14813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Mortgage interest (if purchased property)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61688" y="18653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Property taxes on owned STR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61688" y="2249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Depreciation (27.5yr residential, 39yr commercial)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61688" y="26334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Cost segregation study (5–15yr for appliances, etc.)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61688" y="3017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Repairs and maintenance (100% deductible)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61688" y="3401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Furnishings: beds, linens, kitchen items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61688" y="37856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Cleaning fees paid to contractors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61688" y="4169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Platform fees (Airbnb, VRBO service fees)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61688" y="45537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PriceLabs, Hospitable, Guesty subscriptions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361688" y="49377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 insurance premiums (Proper, Airbnb AirCover gaps)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61688" y="53218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 Loophole: Losses offset W-2 income if active participant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361688" y="57058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 and cleaner wages (1099 if &gt;$600/yr per person)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1005840"/>
            <a:ext cx="3749040" cy="5623560"/>
          </a:xfrm>
          <a:prstGeom prst="rect">
            <a:avLst/>
          </a:prstGeom>
          <a:solidFill>
            <a:srgbClr val="162030"/>
          </a:solidFill>
          <a:ln w="254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29600" y="1005840"/>
            <a:ext cx="374904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21040" y="10424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/ ENTITY DEDUCTIONS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39328" y="14813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LLC formation + annual state fees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39328" y="18653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Business banking fees (usually $0 with Relay)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339328" y="2249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CPA and bookkeeping fees (100% deductible)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39328" y="26334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Legal fees: contracts, lease agreements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339328" y="3017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Business vehicle mileage (67 cents/mile, 2024)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339328" y="3401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Software subscriptions (QuickBooks, REI Hub)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339328" y="37856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Business insurance premiums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339328" y="4169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Marketing + advertising spend (Meta, TikTok ads)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339328" y="45537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Shopify fees, Stripe/PayPal processing fees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339328" y="49377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Contractor payments (Fiverr, Upwork workers)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339328" y="53218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Business travel: STR property inspections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339328" y="57058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QBI Deduction: 20% deduction on qualified biz income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4320" y="6492240"/>
            <a:ext cx="11567160" cy="274320"/>
          </a:xfrm>
          <a:prstGeom prst="rect">
            <a:avLst/>
          </a:prstGeom>
          <a:solidFill>
            <a:srgbClr val="0A2218"/>
          </a:solidFill>
          <a:ln w="1905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5760" y="6501384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LOOPHOLE: Average stay ≤7 days + material participation = STR losses are NON-PASSIVE. These losses can offset your W-2/UGC income dollar for dollar. One owned STR with cost segregation can generate $30K–$50K+ in paper losses in Year 1.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2DCE89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5: YEAR 1 — DETAILED MONTH-BY-MONTH INCOME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model. All 3 income streams tracked with entity allocation.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502920" cy="320040"/>
          </a:xfrm>
          <a:prstGeom prst="rect">
            <a:avLst/>
          </a:prstGeom>
          <a:solidFill>
            <a:srgbClr val="243447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3464" y="1024128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04672" y="1005840"/>
            <a:ext cx="1325880" cy="320040"/>
          </a:xfrm>
          <a:prstGeom prst="rect">
            <a:avLst/>
          </a:prstGeom>
          <a:solidFill>
            <a:srgbClr val="243447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02412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INCOME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76272" y="1005840"/>
            <a:ext cx="1325880" cy="320040"/>
          </a:xfrm>
          <a:prstGeom prst="rect">
            <a:avLst/>
          </a:prstGeom>
          <a:solidFill>
            <a:srgbClr val="243447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03704" y="102412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 INCOME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47872" y="1005840"/>
            <a:ext cx="1325880" cy="320040"/>
          </a:xfrm>
          <a:prstGeom prst="rect">
            <a:avLst/>
          </a:prstGeom>
          <a:solidFill>
            <a:srgbClr val="243447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75304" y="102412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INCOME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19472" y="1005840"/>
            <a:ext cx="1234440" cy="320040"/>
          </a:xfrm>
          <a:prstGeom prst="rect">
            <a:avLst/>
          </a:prstGeom>
          <a:solidFill>
            <a:srgbClr val="243447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46904" y="102412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99632" y="1005840"/>
            <a:ext cx="1280160" cy="320040"/>
          </a:xfrm>
          <a:prstGeom prst="rect">
            <a:avLst/>
          </a:prstGeom>
          <a:solidFill>
            <a:srgbClr val="243447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27064" y="102412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REINVEST 30%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525512" y="1005840"/>
            <a:ext cx="1234440" cy="320040"/>
          </a:xfrm>
          <a:prstGeom prst="rect">
            <a:avLst/>
          </a:prstGeom>
          <a:solidFill>
            <a:srgbClr val="243447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52944" y="102412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HOME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805672" y="1005840"/>
            <a:ext cx="2743200" cy="320040"/>
          </a:xfrm>
          <a:prstGeom prst="rect">
            <a:avLst/>
          </a:prstGeom>
          <a:solidFill>
            <a:srgbClr val="243447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833104" y="102412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1362456"/>
            <a:ext cx="50292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3464" y="1426464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" y="1362456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2104" y="1426464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76272" y="1362456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03704" y="1426464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47872" y="1362456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75304" y="1426464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19472" y="1362456"/>
            <a:ext cx="12344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46904" y="1426464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99632" y="1362456"/>
            <a:ext cx="128016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27064" y="142646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25512" y="1362456"/>
            <a:ext cx="12344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552944" y="1426464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805672" y="1362456"/>
            <a:ext cx="274320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833104" y="142646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week. First 50 pitches.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6032" y="1801368"/>
            <a:ext cx="50292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83464" y="1865376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4672" y="1801368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32104" y="18653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176272" y="1801368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203704" y="18653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47872" y="1801368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575304" y="18653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19472" y="1801368"/>
            <a:ext cx="123444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46904" y="1865376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99632" y="1801368"/>
            <a:ext cx="128016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27064" y="186537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525512" y="1801368"/>
            <a:ext cx="123444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552944" y="1865376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805672" y="1801368"/>
            <a:ext cx="274320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833104" y="186537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clients.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6032" y="2240280"/>
            <a:ext cx="50292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83464" y="2304288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4672" y="2240280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32104" y="230428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176272" y="2240280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203704" y="230428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547872" y="2240280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575304" y="230428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919472" y="2240280"/>
            <a:ext cx="12344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946904" y="230428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199632" y="2240280"/>
            <a:ext cx="128016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227064" y="230428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525512" y="2240280"/>
            <a:ext cx="12344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552944" y="230428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$1,750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805672" y="2240280"/>
            <a:ext cx="274320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833104" y="230428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retainer clients locked.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56032" y="2679192"/>
            <a:ext cx="50292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83464" y="274320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04672" y="2679192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32104" y="274320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176272" y="2679192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203704" y="274320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547872" y="2679192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575304" y="274320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919472" y="2679192"/>
            <a:ext cx="123444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946904" y="27432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199632" y="2679192"/>
            <a:ext cx="128016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227064" y="274320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525512" y="2679192"/>
            <a:ext cx="123444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552944" y="27432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$2,100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805672" y="2679192"/>
            <a:ext cx="274320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833104" y="274320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Co-hosting begins (1 unit).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56032" y="3118104"/>
            <a:ext cx="50292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283464" y="318211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804672" y="3118104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832104" y="318211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176272" y="3118104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2203704" y="318211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3547872" y="3118104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575304" y="318211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919472" y="3118104"/>
            <a:ext cx="12344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946904" y="318211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6199632" y="3118104"/>
            <a:ext cx="128016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227064" y="318211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7525512" y="3118104"/>
            <a:ext cx="12344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7552944" y="318211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$2,800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805672" y="3118104"/>
            <a:ext cx="274320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8833104" y="318211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arb unit live.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256032" y="3557016"/>
            <a:ext cx="50292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283464" y="3621024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804672" y="3557016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832104" y="3621024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2176272" y="3557016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2203704" y="3621024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3547872" y="3557016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3575304" y="3621024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4919472" y="3557016"/>
            <a:ext cx="123444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946904" y="3621024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6199632" y="3557016"/>
            <a:ext cx="128016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6227064" y="362102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$1,800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7525512" y="3557016"/>
            <a:ext cx="123444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7552944" y="3621024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$4,200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8805672" y="3557016"/>
            <a:ext cx="274320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8833104" y="362102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units + 1 co-host.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56032" y="3995928"/>
            <a:ext cx="50292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283464" y="4059936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804672" y="3995928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832104" y="40599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2176272" y="3995928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2203704" y="40599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$4,500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3547872" y="3995928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3575304" y="40599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4919472" y="3995928"/>
            <a:ext cx="12344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4946904" y="4059936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6199632" y="3995928"/>
            <a:ext cx="128016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6227064" y="405993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$2,250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7525512" y="3995928"/>
            <a:ext cx="12344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7552944" y="4059936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$5,250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8805672" y="3995928"/>
            <a:ext cx="274320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8833104" y="405993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arb unit added.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256032" y="4434840"/>
            <a:ext cx="50292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283464" y="4498848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804672" y="4434840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832104" y="449884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2176272" y="4434840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2203704" y="449884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>
            <a:off x="3547872" y="4434840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3575304" y="449884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4919472" y="4434840"/>
            <a:ext cx="123444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4946904" y="449884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$8,000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6199632" y="4434840"/>
            <a:ext cx="128016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6227064" y="449884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$2,400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7525512" y="4434840"/>
            <a:ext cx="123444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7552944" y="449884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$5,600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8805672" y="4434840"/>
            <a:ext cx="274320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8833104" y="449884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primary income. Brand prep.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256032" y="4873752"/>
            <a:ext cx="50292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283464" y="493776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000" dirty="0"/>
          </a:p>
        </p:txBody>
      </p:sp>
      <p:sp>
        <p:nvSpPr>
          <p:cNvPr id="151" name="Shape 149"/>
          <p:cNvSpPr/>
          <p:nvPr/>
        </p:nvSpPr>
        <p:spPr>
          <a:xfrm>
            <a:off x="804672" y="4873752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832104" y="493776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2176272" y="4873752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2203704" y="493776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3547872" y="4873752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3575304" y="493776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4919472" y="4873752"/>
            <a:ext cx="12344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4946904" y="49377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$8,000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6199632" y="4873752"/>
            <a:ext cx="128016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6227064" y="493776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$2,400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7525512" y="4873752"/>
            <a:ext cx="12344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7552944" y="49377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$5,600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8805672" y="4873752"/>
            <a:ext cx="274320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8833104" y="493776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+ POD launch.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256032" y="5312664"/>
            <a:ext cx="50292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164"/>
          <p:cNvSpPr/>
          <p:nvPr/>
        </p:nvSpPr>
        <p:spPr>
          <a:xfrm>
            <a:off x="283464" y="53766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804672" y="5312664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/>
          <p:nvPr/>
        </p:nvSpPr>
        <p:spPr>
          <a:xfrm>
            <a:off x="832104" y="537667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1000" dirty="0"/>
          </a:p>
        </p:txBody>
      </p:sp>
      <p:sp>
        <p:nvSpPr>
          <p:cNvPr id="169" name="Shape 167"/>
          <p:cNvSpPr/>
          <p:nvPr/>
        </p:nvSpPr>
        <p:spPr>
          <a:xfrm>
            <a:off x="2176272" y="5312664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8"/>
          <p:cNvSpPr/>
          <p:nvPr/>
        </p:nvSpPr>
        <p:spPr>
          <a:xfrm>
            <a:off x="2203704" y="537667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$6,500</a:t>
            </a:r>
            <a:endParaRPr lang="en-US" sz="1000" dirty="0"/>
          </a:p>
        </p:txBody>
      </p:sp>
      <p:sp>
        <p:nvSpPr>
          <p:cNvPr id="171" name="Shape 169"/>
          <p:cNvSpPr/>
          <p:nvPr/>
        </p:nvSpPr>
        <p:spPr>
          <a:xfrm>
            <a:off x="3547872" y="5312664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170"/>
          <p:cNvSpPr/>
          <p:nvPr/>
        </p:nvSpPr>
        <p:spPr>
          <a:xfrm>
            <a:off x="3575304" y="537667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</a:t>
            </a:r>
            <a:endParaRPr lang="en-US" sz="1000" dirty="0"/>
          </a:p>
        </p:txBody>
      </p:sp>
      <p:sp>
        <p:nvSpPr>
          <p:cNvPr id="173" name="Shape 171"/>
          <p:cNvSpPr/>
          <p:nvPr/>
        </p:nvSpPr>
        <p:spPr>
          <a:xfrm>
            <a:off x="4919472" y="5312664"/>
            <a:ext cx="123444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172"/>
          <p:cNvSpPr/>
          <p:nvPr/>
        </p:nvSpPr>
        <p:spPr>
          <a:xfrm>
            <a:off x="4946904" y="537667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</a:t>
            </a:r>
            <a:endParaRPr lang="en-US" sz="1000" dirty="0"/>
          </a:p>
        </p:txBody>
      </p:sp>
      <p:sp>
        <p:nvSpPr>
          <p:cNvPr id="175" name="Shape 173"/>
          <p:cNvSpPr/>
          <p:nvPr/>
        </p:nvSpPr>
        <p:spPr>
          <a:xfrm>
            <a:off x="6199632" y="5312664"/>
            <a:ext cx="128016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174"/>
          <p:cNvSpPr/>
          <p:nvPr/>
        </p:nvSpPr>
        <p:spPr>
          <a:xfrm>
            <a:off x="6227064" y="537667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1000" dirty="0"/>
          </a:p>
        </p:txBody>
      </p:sp>
      <p:sp>
        <p:nvSpPr>
          <p:cNvPr id="177" name="Shape 175"/>
          <p:cNvSpPr/>
          <p:nvPr/>
        </p:nvSpPr>
        <p:spPr>
          <a:xfrm>
            <a:off x="7525512" y="5312664"/>
            <a:ext cx="123444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176"/>
          <p:cNvSpPr/>
          <p:nvPr/>
        </p:nvSpPr>
        <p:spPr>
          <a:xfrm>
            <a:off x="7552944" y="537667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$7,000</a:t>
            </a:r>
            <a:endParaRPr lang="en-US" sz="1000" dirty="0"/>
          </a:p>
        </p:txBody>
      </p:sp>
      <p:sp>
        <p:nvSpPr>
          <p:cNvPr id="179" name="Shape 177"/>
          <p:cNvSpPr/>
          <p:nvPr/>
        </p:nvSpPr>
        <p:spPr>
          <a:xfrm>
            <a:off x="8805672" y="5312664"/>
            <a:ext cx="274320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178"/>
          <p:cNvSpPr/>
          <p:nvPr/>
        </p:nvSpPr>
        <p:spPr>
          <a:xfrm>
            <a:off x="8833104" y="537667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launched. $10K milestone!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256032" y="5751576"/>
            <a:ext cx="50292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180"/>
          <p:cNvSpPr/>
          <p:nvPr/>
        </p:nvSpPr>
        <p:spPr>
          <a:xfrm>
            <a:off x="283464" y="5815584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1000" dirty="0"/>
          </a:p>
        </p:txBody>
      </p:sp>
      <p:sp>
        <p:nvSpPr>
          <p:cNvPr id="183" name="Shape 181"/>
          <p:cNvSpPr/>
          <p:nvPr/>
        </p:nvSpPr>
        <p:spPr>
          <a:xfrm>
            <a:off x="804672" y="5751576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182"/>
          <p:cNvSpPr/>
          <p:nvPr/>
        </p:nvSpPr>
        <p:spPr>
          <a:xfrm>
            <a:off x="832104" y="5815584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000" dirty="0"/>
          </a:p>
        </p:txBody>
      </p:sp>
      <p:sp>
        <p:nvSpPr>
          <p:cNvPr id="185" name="Shape 183"/>
          <p:cNvSpPr/>
          <p:nvPr/>
        </p:nvSpPr>
        <p:spPr>
          <a:xfrm>
            <a:off x="2176272" y="5751576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 184"/>
          <p:cNvSpPr/>
          <p:nvPr/>
        </p:nvSpPr>
        <p:spPr>
          <a:xfrm>
            <a:off x="2203704" y="5815584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$7,000</a:t>
            </a:r>
            <a:endParaRPr lang="en-US" sz="1000" dirty="0"/>
          </a:p>
        </p:txBody>
      </p:sp>
      <p:sp>
        <p:nvSpPr>
          <p:cNvPr id="187" name="Shape 185"/>
          <p:cNvSpPr/>
          <p:nvPr/>
        </p:nvSpPr>
        <p:spPr>
          <a:xfrm>
            <a:off x="3547872" y="5751576"/>
            <a:ext cx="132588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186"/>
          <p:cNvSpPr/>
          <p:nvPr/>
        </p:nvSpPr>
        <p:spPr>
          <a:xfrm>
            <a:off x="3575304" y="5815584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1000" dirty="0"/>
          </a:p>
        </p:txBody>
      </p:sp>
      <p:sp>
        <p:nvSpPr>
          <p:cNvPr id="189" name="Shape 187"/>
          <p:cNvSpPr/>
          <p:nvPr/>
        </p:nvSpPr>
        <p:spPr>
          <a:xfrm>
            <a:off x="4919472" y="5751576"/>
            <a:ext cx="12344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188"/>
          <p:cNvSpPr/>
          <p:nvPr/>
        </p:nvSpPr>
        <p:spPr>
          <a:xfrm>
            <a:off x="4946904" y="5815584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$13,000</a:t>
            </a:r>
            <a:endParaRPr lang="en-US" sz="1000" dirty="0"/>
          </a:p>
        </p:txBody>
      </p:sp>
      <p:sp>
        <p:nvSpPr>
          <p:cNvPr id="191" name="Shape 189"/>
          <p:cNvSpPr/>
          <p:nvPr/>
        </p:nvSpPr>
        <p:spPr>
          <a:xfrm>
            <a:off x="6199632" y="5751576"/>
            <a:ext cx="128016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Text 190"/>
          <p:cNvSpPr/>
          <p:nvPr/>
        </p:nvSpPr>
        <p:spPr>
          <a:xfrm>
            <a:off x="6227064" y="5815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$3,900</a:t>
            </a:r>
            <a:endParaRPr lang="en-US" sz="1000" dirty="0"/>
          </a:p>
        </p:txBody>
      </p:sp>
      <p:sp>
        <p:nvSpPr>
          <p:cNvPr id="193" name="Shape 191"/>
          <p:cNvSpPr/>
          <p:nvPr/>
        </p:nvSpPr>
        <p:spPr>
          <a:xfrm>
            <a:off x="7525512" y="5751576"/>
            <a:ext cx="12344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Text 192"/>
          <p:cNvSpPr/>
          <p:nvPr/>
        </p:nvSpPr>
        <p:spPr>
          <a:xfrm>
            <a:off x="7552944" y="5815584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$9,100</a:t>
            </a:r>
            <a:endParaRPr lang="en-US" sz="1000" dirty="0"/>
          </a:p>
        </p:txBody>
      </p:sp>
      <p:sp>
        <p:nvSpPr>
          <p:cNvPr id="195" name="Shape 193"/>
          <p:cNvSpPr/>
          <p:nvPr/>
        </p:nvSpPr>
        <p:spPr>
          <a:xfrm>
            <a:off x="8805672" y="5751576"/>
            <a:ext cx="274320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194"/>
          <p:cNvSpPr/>
          <p:nvPr/>
        </p:nvSpPr>
        <p:spPr>
          <a:xfrm>
            <a:off x="8833104" y="581558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holiday brand push.</a:t>
            </a:r>
            <a:endParaRPr lang="en-US" sz="800" dirty="0"/>
          </a:p>
        </p:txBody>
      </p:sp>
      <p:sp>
        <p:nvSpPr>
          <p:cNvPr id="197" name="Shape 195"/>
          <p:cNvSpPr/>
          <p:nvPr/>
        </p:nvSpPr>
        <p:spPr>
          <a:xfrm>
            <a:off x="256032" y="6190488"/>
            <a:ext cx="50292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Text 196"/>
          <p:cNvSpPr/>
          <p:nvPr/>
        </p:nvSpPr>
        <p:spPr>
          <a:xfrm>
            <a:off x="283464" y="6254496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000" dirty="0"/>
          </a:p>
        </p:txBody>
      </p:sp>
      <p:sp>
        <p:nvSpPr>
          <p:cNvPr id="199" name="Shape 197"/>
          <p:cNvSpPr/>
          <p:nvPr/>
        </p:nvSpPr>
        <p:spPr>
          <a:xfrm>
            <a:off x="804672" y="6190488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Text 198"/>
          <p:cNvSpPr/>
          <p:nvPr/>
        </p:nvSpPr>
        <p:spPr>
          <a:xfrm>
            <a:off x="832104" y="6254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000" dirty="0"/>
          </a:p>
        </p:txBody>
      </p:sp>
      <p:sp>
        <p:nvSpPr>
          <p:cNvPr id="201" name="Shape 199"/>
          <p:cNvSpPr/>
          <p:nvPr/>
        </p:nvSpPr>
        <p:spPr>
          <a:xfrm>
            <a:off x="2176272" y="6190488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Text 200"/>
          <p:cNvSpPr/>
          <p:nvPr/>
        </p:nvSpPr>
        <p:spPr>
          <a:xfrm>
            <a:off x="2203704" y="6254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</a:t>
            </a:r>
            <a:endParaRPr lang="en-US" sz="1000" dirty="0"/>
          </a:p>
        </p:txBody>
      </p:sp>
      <p:sp>
        <p:nvSpPr>
          <p:cNvPr id="203" name="Shape 201"/>
          <p:cNvSpPr/>
          <p:nvPr/>
        </p:nvSpPr>
        <p:spPr>
          <a:xfrm>
            <a:off x="3547872" y="6190488"/>
            <a:ext cx="132588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Text 202"/>
          <p:cNvSpPr/>
          <p:nvPr/>
        </p:nvSpPr>
        <p:spPr>
          <a:xfrm>
            <a:off x="3575304" y="6254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$8,000</a:t>
            </a:r>
            <a:endParaRPr lang="en-US" sz="1000" dirty="0"/>
          </a:p>
        </p:txBody>
      </p:sp>
      <p:sp>
        <p:nvSpPr>
          <p:cNvPr id="205" name="Shape 203"/>
          <p:cNvSpPr/>
          <p:nvPr/>
        </p:nvSpPr>
        <p:spPr>
          <a:xfrm>
            <a:off x="4919472" y="6190488"/>
            <a:ext cx="123444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Text 204"/>
          <p:cNvSpPr/>
          <p:nvPr/>
        </p:nvSpPr>
        <p:spPr>
          <a:xfrm>
            <a:off x="4946904" y="6254496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$16,500</a:t>
            </a:r>
            <a:endParaRPr lang="en-US" sz="1000" dirty="0"/>
          </a:p>
        </p:txBody>
      </p:sp>
      <p:sp>
        <p:nvSpPr>
          <p:cNvPr id="207" name="Shape 205"/>
          <p:cNvSpPr/>
          <p:nvPr/>
        </p:nvSpPr>
        <p:spPr>
          <a:xfrm>
            <a:off x="6199632" y="6190488"/>
            <a:ext cx="128016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Text 206"/>
          <p:cNvSpPr/>
          <p:nvPr/>
        </p:nvSpPr>
        <p:spPr>
          <a:xfrm>
            <a:off x="6227064" y="625449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$4,950</a:t>
            </a:r>
            <a:endParaRPr lang="en-US" sz="1000" dirty="0"/>
          </a:p>
        </p:txBody>
      </p:sp>
      <p:sp>
        <p:nvSpPr>
          <p:cNvPr id="209" name="Shape 207"/>
          <p:cNvSpPr/>
          <p:nvPr/>
        </p:nvSpPr>
        <p:spPr>
          <a:xfrm>
            <a:off x="7525512" y="6190488"/>
            <a:ext cx="123444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Text 208"/>
          <p:cNvSpPr/>
          <p:nvPr/>
        </p:nvSpPr>
        <p:spPr>
          <a:xfrm>
            <a:off x="7552944" y="6254496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$11,550</a:t>
            </a:r>
            <a:endParaRPr lang="en-US" sz="1000" dirty="0"/>
          </a:p>
        </p:txBody>
      </p:sp>
      <p:sp>
        <p:nvSpPr>
          <p:cNvPr id="211" name="Shape 209"/>
          <p:cNvSpPr/>
          <p:nvPr/>
        </p:nvSpPr>
        <p:spPr>
          <a:xfrm>
            <a:off x="8805672" y="6190488"/>
            <a:ext cx="2743200" cy="402336"/>
          </a:xfrm>
          <a:prstGeom prst="rect">
            <a:avLst/>
          </a:prstGeom>
          <a:solidFill>
            <a:srgbClr val="1A2B3C"/>
          </a:solidFill>
          <a:ln w="3810">
            <a:solidFill>
              <a:srgbClr val="2A3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 210"/>
          <p:cNvSpPr/>
          <p:nvPr/>
        </p:nvSpPr>
        <p:spPr>
          <a:xfrm>
            <a:off x="8833104" y="625449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month. 3 streams firing.</a:t>
            </a:r>
            <a:endParaRPr lang="en-US" sz="800" dirty="0"/>
          </a:p>
        </p:txBody>
      </p:sp>
      <p:sp>
        <p:nvSpPr>
          <p:cNvPr id="213" name="Shape 211"/>
          <p:cNvSpPr/>
          <p:nvPr/>
        </p:nvSpPr>
        <p:spPr>
          <a:xfrm>
            <a:off x="256032" y="6629400"/>
            <a:ext cx="502920" cy="402336"/>
          </a:xfrm>
          <a:prstGeom prst="rect">
            <a:avLst/>
          </a:prstGeom>
          <a:solidFill>
            <a:srgbClr val="0A2218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Text 212"/>
          <p:cNvSpPr/>
          <p:nvPr/>
        </p:nvSpPr>
        <p:spPr>
          <a:xfrm>
            <a:off x="283464" y="6693408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000" dirty="0"/>
          </a:p>
        </p:txBody>
      </p:sp>
      <p:sp>
        <p:nvSpPr>
          <p:cNvPr id="215" name="Shape 213"/>
          <p:cNvSpPr/>
          <p:nvPr/>
        </p:nvSpPr>
        <p:spPr>
          <a:xfrm>
            <a:off x="804672" y="6629400"/>
            <a:ext cx="1325880" cy="402336"/>
          </a:xfrm>
          <a:prstGeom prst="rect">
            <a:avLst/>
          </a:prstGeom>
          <a:solidFill>
            <a:srgbClr val="0A2218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Text 214"/>
          <p:cNvSpPr/>
          <p:nvPr/>
        </p:nvSpPr>
        <p:spPr>
          <a:xfrm>
            <a:off x="832104" y="669340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$20,900</a:t>
            </a:r>
            <a:endParaRPr lang="en-US" sz="1000" dirty="0"/>
          </a:p>
        </p:txBody>
      </p:sp>
      <p:sp>
        <p:nvSpPr>
          <p:cNvPr id="217" name="Shape 215"/>
          <p:cNvSpPr/>
          <p:nvPr/>
        </p:nvSpPr>
        <p:spPr>
          <a:xfrm>
            <a:off x="2176272" y="6629400"/>
            <a:ext cx="1325880" cy="402336"/>
          </a:xfrm>
          <a:prstGeom prst="rect">
            <a:avLst/>
          </a:prstGeom>
          <a:solidFill>
            <a:srgbClr val="0A2218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Text 216"/>
          <p:cNvSpPr/>
          <p:nvPr/>
        </p:nvSpPr>
        <p:spPr>
          <a:xfrm>
            <a:off x="2203704" y="669340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$42,000</a:t>
            </a:r>
            <a:endParaRPr lang="en-US" sz="1000" dirty="0"/>
          </a:p>
        </p:txBody>
      </p:sp>
      <p:sp>
        <p:nvSpPr>
          <p:cNvPr id="219" name="Shape 217"/>
          <p:cNvSpPr/>
          <p:nvPr/>
        </p:nvSpPr>
        <p:spPr>
          <a:xfrm>
            <a:off x="3547872" y="6629400"/>
            <a:ext cx="1325880" cy="402336"/>
          </a:xfrm>
          <a:prstGeom prst="rect">
            <a:avLst/>
          </a:prstGeom>
          <a:solidFill>
            <a:srgbClr val="0A2218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Text 218"/>
          <p:cNvSpPr/>
          <p:nvPr/>
        </p:nvSpPr>
        <p:spPr>
          <a:xfrm>
            <a:off x="3575304" y="669340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$15,500</a:t>
            </a:r>
            <a:endParaRPr lang="en-US" sz="1000" dirty="0"/>
          </a:p>
        </p:txBody>
      </p:sp>
      <p:sp>
        <p:nvSpPr>
          <p:cNvPr id="221" name="Shape 219"/>
          <p:cNvSpPr/>
          <p:nvPr/>
        </p:nvSpPr>
        <p:spPr>
          <a:xfrm>
            <a:off x="4919472" y="6629400"/>
            <a:ext cx="1234440" cy="402336"/>
          </a:xfrm>
          <a:prstGeom prst="rect">
            <a:avLst/>
          </a:prstGeom>
          <a:solidFill>
            <a:srgbClr val="0A2218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 220"/>
          <p:cNvSpPr/>
          <p:nvPr/>
        </p:nvSpPr>
        <p:spPr>
          <a:xfrm>
            <a:off x="4946904" y="669340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$78,400</a:t>
            </a:r>
            <a:endParaRPr lang="en-US" sz="1000" dirty="0"/>
          </a:p>
        </p:txBody>
      </p:sp>
      <p:sp>
        <p:nvSpPr>
          <p:cNvPr id="223" name="Shape 221"/>
          <p:cNvSpPr/>
          <p:nvPr/>
        </p:nvSpPr>
        <p:spPr>
          <a:xfrm>
            <a:off x="6199632" y="6629400"/>
            <a:ext cx="1280160" cy="402336"/>
          </a:xfrm>
          <a:prstGeom prst="rect">
            <a:avLst/>
          </a:prstGeom>
          <a:solidFill>
            <a:srgbClr val="0A2218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 222"/>
          <p:cNvSpPr/>
          <p:nvPr/>
        </p:nvSpPr>
        <p:spPr>
          <a:xfrm>
            <a:off x="6227064" y="669340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$23,970</a:t>
            </a:r>
            <a:endParaRPr lang="en-US" sz="1000" dirty="0"/>
          </a:p>
        </p:txBody>
      </p:sp>
      <p:sp>
        <p:nvSpPr>
          <p:cNvPr id="225" name="Shape 223"/>
          <p:cNvSpPr/>
          <p:nvPr/>
        </p:nvSpPr>
        <p:spPr>
          <a:xfrm>
            <a:off x="7525512" y="6629400"/>
            <a:ext cx="1234440" cy="402336"/>
          </a:xfrm>
          <a:prstGeom prst="rect">
            <a:avLst/>
          </a:prstGeom>
          <a:solidFill>
            <a:srgbClr val="0A2218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Text 224"/>
          <p:cNvSpPr/>
          <p:nvPr/>
        </p:nvSpPr>
        <p:spPr>
          <a:xfrm>
            <a:off x="7552944" y="669340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$54,430</a:t>
            </a:r>
            <a:endParaRPr lang="en-US" sz="1000" dirty="0"/>
          </a:p>
        </p:txBody>
      </p:sp>
      <p:sp>
        <p:nvSpPr>
          <p:cNvPr id="227" name="Shape 225"/>
          <p:cNvSpPr/>
          <p:nvPr/>
        </p:nvSpPr>
        <p:spPr>
          <a:xfrm>
            <a:off x="8805672" y="6629400"/>
            <a:ext cx="2743200" cy="402336"/>
          </a:xfrm>
          <a:prstGeom prst="rect">
            <a:avLst/>
          </a:prstGeom>
          <a:solidFill>
            <a:srgbClr val="0A2218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Text 226"/>
          <p:cNvSpPr/>
          <p:nvPr/>
        </p:nvSpPr>
        <p:spPr>
          <a:xfrm>
            <a:off x="8833104" y="669340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year total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2DCE89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1 QUARTERLY MILESTONES &amp; KPIs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these numbers weekly. What gets measured gets managed.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7607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607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 | Jan–Mar | Revenue: $3,900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67335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UGC pitches sent: 150+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1566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Active paying clients: 3–5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15798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Retainer client(s):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4003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StayVital social followers: 500+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64261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Email subscribers: 100+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88493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LLC formed: Entity 1 (StayVital Media LLC)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12724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Business bank account opened (Relay)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36956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Co-hosting outreach started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0" y="1463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0" y="1673352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43400" y="17007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First paid UGC gig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97680" y="2167128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43400" y="21945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First $1K month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97680" y="2660904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43400" y="26883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Portfolio with 10+ videos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97680" y="3154680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43400" y="31821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Niche identified (wellness)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100584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63640" y="1005840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55080" y="10607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| Apr–Jun | Revenue: $13,000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463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167335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Co-hosting clients: 2+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191566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Arbitrage units live: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55080" y="215798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STR monthly revenue: $1,500–$3,000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24003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Total monthly income: $4,000–$6,000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55080" y="264261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Entity 2 formed (StayVital Properties LLC)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55080" y="288493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STR automation set up (Hospitable + PriceLabs)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55080" y="312724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Cleaning team hired (via Turno)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55080" y="336956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STR fund saved from Q1 earnings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87000" y="1463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287000" y="1673352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332720" y="17007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First co-hosting check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287000" y="2167128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332720" y="21945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First Airbnb 5★ review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287000" y="2660904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332720" y="26883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$4K month achieved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287000" y="3154680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332720" y="31821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VA hired for STR messaging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88620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" y="3886200"/>
            <a:ext cx="576072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39410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| Jul–Sep | Revenue: $25,500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65760" y="4343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45537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2nd STR unit generating revenue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5760" y="479602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STR monthly revenue: $5,000–$7,000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" y="503834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Shopify store live (Month 9)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528066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First POD product sold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5760" y="552297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StayVital social: 2,000+ followers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576529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Email list: 500+ subscribers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65760" y="60076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YouTube channel started (2–3 videos)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624992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Entity 3 formed or brand under Entity 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297680" y="4343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297680" y="4553712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343400" y="458114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STR exceeds UGC income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297680" y="5047488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343400" y="5074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Shopify store launched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297680" y="5541264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343400" y="55686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First organic brand sale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297680" y="6035040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343400" y="606247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Brand studio (STR property) shoots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63640" y="388620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263640" y="3886200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355080" y="39410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| Oct–Dec | Revenue: $39,500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355080" y="4343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355080" y="45537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Monthly revenue: $10K → $16.5K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355080" y="479602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Course launched ($97–$197 price)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355080" y="503834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Membership: 50+ members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355080" y="528066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3 income streams operating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355080" y="552297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Brand holiday campaign executed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355080" y="576529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CPA hired for Year 2 tax planning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355080" y="60076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Year 2 strategy drafted (this deck updated)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355080" y="624992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STR properties: 2–3 operating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0287000" y="4343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0287000" y="4553712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0332720" y="458114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$10K month hit (Oct)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0287000" y="5047488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10332720" y="5074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Course first launch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0287000" y="5541264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0332720" y="55686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Holiday revenue spike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287000" y="6035040"/>
            <a:ext cx="1600200" cy="420624"/>
          </a:xfrm>
          <a:prstGeom prst="rect">
            <a:avLst/>
          </a:prstGeom>
          <a:solidFill>
            <a:srgbClr val="0D1B2A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0332720" y="606247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Year 1 = $78K+ total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2 PLAN: SYSTEMIZE &amp; SCALE — TARGET $150K–$200K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is about removing yourself from operations while income multiplies.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607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— STR PORTFOLIO EXPANSION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Add 1–2 more STR units (arbitrage or purchase with DSCR loan)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STR Model B: Buy first property ($150–185K in Poconos or Catskills)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Target: 4–5 units total generating $25,000–$35,000/mo gross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2374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Hire full-time STR manager or VA team ($1,500–$2,500/mo)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87121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Implement full property management system (Guesty PMS)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21868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Begin exploring mid-term rentals (30+ nights) for travel nurses/corporate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5394960" cy="201168"/>
          </a:xfrm>
          <a:prstGeom prst="rect">
            <a:avLst/>
          </a:prstGeom>
          <a:solidFill>
            <a:srgbClr val="0D1B2A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5387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STR Target: $8K–$15K/mo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100584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63640" y="1005840"/>
            <a:ext cx="576072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10607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— BRAND REVENUE 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4813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Scale ad spend: $100–$300/day if ROAS &gt; 2.5x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Expand product line: 10+ SKUs (apparel, wellness, accessories)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217627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Launch private label products (manufacturer via Alibaba/Faire)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52374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Hit 10,000 email subscribers — monthly newsletter monetization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87121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Run 2 live product launches ($15K–$30K launch windows)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321868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YouTube: 1,000+ subscribers → AdSense revenue added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3520440"/>
            <a:ext cx="5394960" cy="201168"/>
          </a:xfrm>
          <a:prstGeom prst="rect">
            <a:avLst/>
          </a:prstGeom>
          <a:solidFill>
            <a:srgbClr val="0D1B2A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35387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Brand Target: $8K–$15K/mo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88620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886200"/>
            <a:ext cx="57607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39410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— CONTENT &amp; COURSES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436168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Course v2.0 with updated content + community access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7091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Membership: 200–500 members @ $27–$47/mo = $5,400–$23,500 MRR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50566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Launch affiliate program with 50+ active affiliates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54041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Podcast: 'StayVital Talks' — UGC, STR, wellness entrepreneurship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57515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UGC retainer: 1–2 anchor clients only ($2,000–$4,000/mo total)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6400800"/>
            <a:ext cx="5394960" cy="201168"/>
          </a:xfrm>
          <a:prstGeom prst="rect">
            <a:avLst/>
          </a:prstGeom>
          <a:solidFill>
            <a:srgbClr val="0D1B2A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641908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Creator Target: $5K–$10K/mo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388620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63640" y="3886200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55080" y="39410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— OPERATIONS &amp; TEAM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55080" y="436168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Hire first W-2 employee OR promote VA to part-time contractor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55080" y="47091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Set up proper payroll via Gusto (required for S-Corp)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50566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Create brand content calendar: 30 days out, always scheduled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55080" y="54041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S-Corp election if not already done ($75K+ net in Year 1)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55080" y="57515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Quarterly CPA reviews — tax planning every 90 days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55080" y="6099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Year 2 entity review: separate property LLCs for each STR owned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55080" y="6400800"/>
            <a:ext cx="5394960" cy="201168"/>
          </a:xfrm>
          <a:prstGeom prst="rect">
            <a:avLst/>
          </a:prstGeom>
          <a:solidFill>
            <a:srgbClr val="0D1B2A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00800" y="641908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Total Y2 Target: $150–$200K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YEARS 3–5: THE PATH TO $1,000,000+ ANNUAL REVENUE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 builds on the last. Year 5 is equity, not just income.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567160" cy="1005840"/>
          </a:xfrm>
          <a:prstGeom prst="rect">
            <a:avLst/>
          </a:prstGeom>
          <a:solidFill>
            <a:srgbClr val="162030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097280" cy="1005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0789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$78,400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097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49040" y="13075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$42K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80760" y="1097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UGC/Creator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80760" y="13075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$21K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12480" y="1097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Brand/Digital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0" y="13075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$15K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789920" y="1188720"/>
            <a:ext cx="73152" cy="64008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2608" y="1755648"/>
            <a:ext cx="716890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49040" y="1691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Foundation. Systems built. Brand seeded. 2–3 STR units.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121408"/>
            <a:ext cx="11567160" cy="1005840"/>
          </a:xfrm>
          <a:prstGeom prst="rect">
            <a:avLst/>
          </a:prstGeom>
          <a:solidFill>
            <a:srgbClr val="162030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121408"/>
            <a:ext cx="109728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$180,000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08760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49040" y="22128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49040" y="2423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$105K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080760" y="22128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UGC/Creator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2423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$30K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12480" y="22128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Brand/Digital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2423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$45K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0789920" y="2304288"/>
            <a:ext cx="73152" cy="64008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92608" y="2871216"/>
            <a:ext cx="164592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49040" y="28072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Scale. First property purchased. Brand ads running. Team hired.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236976"/>
            <a:ext cx="11567160" cy="1005840"/>
          </a:xfrm>
          <a:prstGeom prst="rect">
            <a:avLst/>
          </a:prstGeom>
          <a:solidFill>
            <a:srgbClr val="162030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3236976"/>
            <a:ext cx="1097280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337413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508760" y="33101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$350,000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508760" y="3877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49040" y="33284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749040" y="35387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$180K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080760" y="33284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UGC/Creator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80760" y="35387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$20K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412480" y="33284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Brand/Digital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12480" y="35387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$150K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10789920" y="3419856"/>
            <a:ext cx="73152" cy="64008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92608" y="3986784"/>
            <a:ext cx="3200400" cy="1828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749040" y="39227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becomes primary driver. 5–6 STR units. Course + membership scaled.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352544"/>
            <a:ext cx="11567160" cy="1005840"/>
          </a:xfrm>
          <a:prstGeom prst="rect">
            <a:avLst/>
          </a:prstGeom>
          <a:solidFill>
            <a:srgbClr val="162030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" y="4352544"/>
            <a:ext cx="109728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74320" y="44897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508760" y="44256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$600,000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1508760" y="4992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749040" y="44439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749040" y="46542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$240K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6080760" y="44439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UGC/Creator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080760" y="46542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$10K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8412480" y="44439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Brand/Digital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412480" y="46542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$350K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10789920" y="4535424"/>
            <a:ext cx="73152" cy="64008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92608" y="5102352"/>
            <a:ext cx="54864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749040" y="50383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launch + retail. Possible brand investment/licensing deals. 2nd property purchase.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5468112"/>
            <a:ext cx="11567160" cy="1005840"/>
          </a:xfrm>
          <a:prstGeom prst="rect">
            <a:avLst/>
          </a:prstGeom>
          <a:solidFill>
            <a:srgbClr val="162030"/>
          </a:solidFill>
          <a:ln w="19050">
            <a:solidFill>
              <a:srgbClr val="2DCE8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74320" y="5468112"/>
            <a:ext cx="1097280" cy="1005840"/>
          </a:xfrm>
          <a:prstGeom prst="rect">
            <a:avLst/>
          </a:prstGeom>
          <a:solidFill>
            <a:srgbClr val="2DCE89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74320" y="56052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5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508760" y="55412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C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$1,200,000</a:t>
            </a:r>
            <a:endParaRPr lang="en-US" sz="2800" dirty="0"/>
          </a:p>
        </p:txBody>
      </p:sp>
      <p:sp>
        <p:nvSpPr>
          <p:cNvPr id="65" name="Text 63"/>
          <p:cNvSpPr/>
          <p:nvPr/>
        </p:nvSpPr>
        <p:spPr>
          <a:xfrm>
            <a:off x="1508760" y="6108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749040" y="5559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749040" y="57698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$360K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6080760" y="5559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UGC/Creator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080760" y="57698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$0–$10K</a:t>
            </a:r>
            <a:endParaRPr lang="en-US" sz="1700" dirty="0"/>
          </a:p>
        </p:txBody>
      </p:sp>
      <p:sp>
        <p:nvSpPr>
          <p:cNvPr id="70" name="Text 68"/>
          <p:cNvSpPr/>
          <p:nvPr/>
        </p:nvSpPr>
        <p:spPr>
          <a:xfrm>
            <a:off x="8412480" y="5559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Brand/Digital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412480" y="57698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$840K</a:t>
            </a:r>
            <a:endParaRPr lang="en-US" sz="1700" dirty="0"/>
          </a:p>
        </p:txBody>
      </p:sp>
      <p:sp>
        <p:nvSpPr>
          <p:cNvPr id="72" name="Shape 70"/>
          <p:cNvSpPr/>
          <p:nvPr/>
        </p:nvSpPr>
        <p:spPr>
          <a:xfrm>
            <a:off x="10789920" y="5650992"/>
            <a:ext cx="73152" cy="64008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92608" y="6217920"/>
            <a:ext cx="10972800" cy="182880"/>
          </a:xfrm>
          <a:prstGeom prst="rect">
            <a:avLst/>
          </a:prstGeom>
          <a:solidFill>
            <a:srgbClr val="2DCE89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749040" y="61539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equity. Licensing/wholesale. STR portfolio = passive. UGC optional.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6583680"/>
            <a:ext cx="11567160" cy="182880"/>
          </a:xfrm>
          <a:prstGeom prst="rect">
            <a:avLst/>
          </a:prstGeom>
          <a:solidFill>
            <a:srgbClr val="0A2218"/>
          </a:solidFill>
          <a:ln w="1905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65760" y="6592824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BRAND EQUITY POTENTIAL: StayVitalCollection at $1.2M revenue trades at 3–6x multiple = $3.6M–$7.2M brand value (acquisition/investment potential).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YEARS 3–5: STRATEGIC LEVERS TO REACH $1M+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lever is a multiplier — not additive, but exponential.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607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 PORTFOLIO → OWNERSHIP | Years 2–4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Buy 2–3 STR properties using DSCR loans (no W-2 income verification)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Cost segregation study in Year 1 of each purchase ($3,000–$5,000 study) = massive paper losses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Each $180K property at 55% occ, $300 ADR = $60K gross / $35K net annually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5 owned properties = $175K passive income + appreciation + principal paydown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365760" y="29443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 BRRRR strategy: Buy, Renovate (lightly), Rent (STR), Refinance, Repeat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365760" y="33101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Year 4 goal: STR portfolio self-manages — 4 hours/week with PM system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263640" y="100584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63640" y="1005840"/>
            <a:ext cx="576072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0607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 → WHOLESALE &amp; LICENSING | Years 3–5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14813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Private label product line: manufacturer via Faire.com or Alibaba (50%+ margins)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355080" y="18470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Pitch StayVital to boutique hotel STR companies for branded in-room amenity kits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355080" y="22128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Licensing deal: other STR hosts pay to 'StayVital Brand' their property ($500–$1K/property)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6355080" y="2578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Wholesale to Whole Foods / Credo Beauty / Nordstrom for lifestyle product line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6355080" y="29443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Brand collaboration with larger wellness brand (acquisition target path)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355080" y="33101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Retail presence = 20x revenue multiplier vs. DTC alone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274320" y="388620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886200"/>
            <a:ext cx="57607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9410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→ MEDIA COMPANY | Years 2–4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3616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YouTube: 10K+ subscribers = AdSense + sponsor revenue ($3K–$10K/mo at scale)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365760" y="47274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Podcast: 'StayVital Build' — interviews with STR investors, UGC creators, brand founders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365760" y="50932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Agency model: White-label your UGC system for other brands ($5K–$15K/mo retainers)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365760" y="54589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Membership: 1,000 members @ $47/mo = $47,000 MRR ($564K/yr) from content alone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365760" y="58247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Become the go-to brand in UGC + STR + wellness entrepreneurship space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365760" y="61904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Speaking engagements, brand deals, and PR compound over time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263640" y="388620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63640" y="3886200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55080" y="39410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TAX &amp; WEALTH STRATEGY | All Years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43616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Max SEP-IRA ($69K limit 2024) every year — immediate tax deduction + compound growth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6355080" y="47274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Cost segregation on each owned STR = $30K–$80K paper losses offsetting active income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6355080" y="50932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Qualified Business Income (QBI) deduction: 20% off net business income on S-Corp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355080" y="54589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1031 Exchange any sold STR property into larger/better property — zero capital gains tax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6355080" y="58247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Life insurance (IUL or Whole Life) as tax-advantaged wealth vehicle once cash flowing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6355080" y="61904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By Year 5: multiple streams of passive income, real estate equity, and brand value</a:t>
            </a:r>
            <a:endParaRPr lang="en-US" sz="9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UPDATED 12-MONTH EXECUTION TIMELINE — COMPLETE 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formation, income milestones, and brand launches mapped month by month.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923544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9692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280160"/>
            <a:ext cx="923544" cy="5303520"/>
          </a:xfrm>
          <a:prstGeom prst="rect">
            <a:avLst/>
          </a:prstGeom>
          <a:solidFill>
            <a:srgbClr val="16203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316736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" y="158191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launch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3464" y="258775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pitches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" y="359359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live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3464" y="459943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1 formed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960120"/>
            <a:ext cx="923544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9692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88720" y="1280160"/>
            <a:ext cx="923544" cy="5303520"/>
          </a:xfrm>
          <a:prstGeom prst="rect">
            <a:avLst/>
          </a:prstGeom>
          <a:solidFill>
            <a:srgbClr val="16203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8720" y="1316736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16152" y="158191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clients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16152" y="258775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$1K month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16152" y="359359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research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16152" y="459943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Billo/Fiverr live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21408" y="960120"/>
            <a:ext cx="923544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21408" y="9692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21408" y="1280160"/>
            <a:ext cx="923544" cy="5303520"/>
          </a:xfrm>
          <a:prstGeom prst="rect">
            <a:avLst/>
          </a:prstGeom>
          <a:solidFill>
            <a:srgbClr val="16203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21408" y="1316736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48840" y="158191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retainers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48840" y="258775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$2.5K month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48840" y="359359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Co-host outreach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48840" y="459943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agreement draft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54096" y="960120"/>
            <a:ext cx="92354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054096" y="9692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54096" y="1280160"/>
            <a:ext cx="923544" cy="5303520"/>
          </a:xfrm>
          <a:prstGeom prst="rect">
            <a:avLst/>
          </a:prstGeom>
          <a:solidFill>
            <a:srgbClr val="16203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54096" y="1316736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81528" y="158191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Co-host live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81528" y="258775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2 formed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81528" y="359359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$3K total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81528" y="459943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unit search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86784" y="960120"/>
            <a:ext cx="92354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986784" y="9692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86784" y="1280160"/>
            <a:ext cx="923544" cy="5303520"/>
          </a:xfrm>
          <a:prstGeom prst="rect">
            <a:avLst/>
          </a:prstGeom>
          <a:solidFill>
            <a:srgbClr val="16203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986784" y="1316736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14216" y="158191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unit live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14216" y="258775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listing up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014216" y="359359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$4K total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14216" y="459943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Furnish budget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19472" y="960120"/>
            <a:ext cx="92354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19472" y="9692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19472" y="1280160"/>
            <a:ext cx="923544" cy="5303520"/>
          </a:xfrm>
          <a:prstGeom prst="rect">
            <a:avLst/>
          </a:prstGeom>
          <a:solidFill>
            <a:srgbClr val="16203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19472" y="1316736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46904" y="158191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STR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46904" y="258775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occupancy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46904" y="359359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$6K total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46904" y="459943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 interior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52160" y="960120"/>
            <a:ext cx="92354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852160" y="9692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852160" y="1280160"/>
            <a:ext cx="923544" cy="5303520"/>
          </a:xfrm>
          <a:prstGeom prst="rect">
            <a:avLst/>
          </a:prstGeom>
          <a:solidFill>
            <a:srgbClr val="16203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852160" y="1316736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79592" y="158191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STR unit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879592" y="258775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hired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79592" y="359359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$7.5K total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879592" y="459943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product R&amp;D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84848" y="960120"/>
            <a:ext cx="92354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784848" y="9692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784848" y="1280160"/>
            <a:ext cx="923544" cy="5303520"/>
          </a:xfrm>
          <a:prstGeom prst="rect">
            <a:avLst/>
          </a:prstGeom>
          <a:solidFill>
            <a:srgbClr val="16203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784848" y="1316736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812280" y="158191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$8K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812280" y="258775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build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812280" y="359359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list 500+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812280" y="459943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engaged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717536" y="960120"/>
            <a:ext cx="923544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717536" y="9692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717536" y="1280160"/>
            <a:ext cx="923544" cy="5303520"/>
          </a:xfrm>
          <a:prstGeom prst="rect">
            <a:avLst/>
          </a:prstGeom>
          <a:solidFill>
            <a:srgbClr val="16203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717536" y="1316736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744968" y="158191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live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744968" y="258775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products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744968" y="359359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eBook launch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744968" y="459943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3 formed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650224" y="960120"/>
            <a:ext cx="923544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650224" y="9692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650224" y="1280160"/>
            <a:ext cx="923544" cy="5303520"/>
          </a:xfrm>
          <a:prstGeom prst="rect">
            <a:avLst/>
          </a:prstGeom>
          <a:solidFill>
            <a:srgbClr val="16203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650224" y="1316736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8677656" y="158191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launch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677656" y="258775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month!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8677656" y="359359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setup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677656" y="459943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3 vids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582912" y="960120"/>
            <a:ext cx="923544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582912" y="9692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9582912" y="1280160"/>
            <a:ext cx="923544" cy="5303520"/>
          </a:xfrm>
          <a:prstGeom prst="rect">
            <a:avLst/>
          </a:prstGeom>
          <a:solidFill>
            <a:srgbClr val="16203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9582912" y="1316736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9610344" y="158191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push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9610344" y="258775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bundles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9610344" y="359359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launch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9610344" y="459943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$13K month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0515600" y="960120"/>
            <a:ext cx="923544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0515600" y="9692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10515600" y="1280160"/>
            <a:ext cx="923544" cy="5303520"/>
          </a:xfrm>
          <a:prstGeom prst="rect">
            <a:avLst/>
          </a:prstGeom>
          <a:solidFill>
            <a:srgbClr val="16203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10515600" y="1316736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10543032" y="158191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$16.5K peak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10543032" y="258775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review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0543032" y="359359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plan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10543032" y="4599432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$78K total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256032" y="6656832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◄── PHASE 1: UGC ──►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3200400" y="665683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◄────────── PHASE 2: STR ────────►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7955280" y="66568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◄─── PHASE 3: BRAND ───►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 WEEKLY OPERATIONS RHYTHM — ONCE YOU'RE LIVE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tasks to maintain 5★ status and maximize revenue. ~4 hours/week per unit.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5760720" cy="2633472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 — REVENUE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99616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Check last week's booking revenue vs. PriceLabs forecast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Adjust minimum stay length for upcoming holidays/weekends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Review guest messages — respond to any inquiries within 1 hour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706624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Check upcoming cleanings are scheduled in Turno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10896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Monitor competitor pricing in AirDNA — adjust if needed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024128"/>
            <a:ext cx="5760720" cy="2633472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024128"/>
            <a:ext cx="57607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080" y="1078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WED — GUEST EXPERIENCE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499616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Send pre-arrival message to all guests checking in this week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901952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Confirm cleaner for all upcoming checkouts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304288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Verify smart lock codes are set for incoming guests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706624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Check for any maintenance issues reported — respond within 24hr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310896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Add any new amenities or improvements to listing description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67328"/>
            <a:ext cx="5760720" cy="2633472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767328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822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 — LISTING OPTIMIZATION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242816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Review this week's bookings — identify gaps in calendar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645152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Run 10% discount on any gap nights (48hr before = last-minute discount)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5047488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Request reviews from any guests who checked out this week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5449824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Analyze search rank in Airbnb vs. last week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585216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Post 1 piece of STR-branded content on StayVital social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767328"/>
            <a:ext cx="5760720" cy="2633472"/>
          </a:xfrm>
          <a:prstGeom prst="rect">
            <a:avLst/>
          </a:prstGeom>
          <a:solidFill>
            <a:srgbClr val="162030"/>
          </a:solidFill>
          <a:ln w="25400">
            <a:solidFill>
              <a:srgbClr val="2DCE8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3767328"/>
            <a:ext cx="5760720" cy="384048"/>
          </a:xfrm>
          <a:prstGeom prst="rect">
            <a:avLst/>
          </a:prstGeom>
          <a:solidFill>
            <a:srgbClr val="2DCE89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55080" y="3822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— FINANCIAL REVIEW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4242816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Run P&amp;L report in REI Hub for each property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4645152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Log all income + expenses for tax purposes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5047488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Calculate occupancy rate vs. market average (AirDNA)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5449824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Review cleaning + supply costs — optimize if over 15% of revenue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585216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Transfer STR profits to designated savings (fund for next property)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STAYVITALCOLLECTION BRAND WEEKLY RHYTHM — MONTHS 9–12+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alongside STR autopilot. Brand is your legacy income.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5760720" cy="2633472"/>
          </a:xfrm>
          <a:prstGeom prst="rect">
            <a:avLst/>
          </a:prstGeom>
          <a:solidFill>
            <a:srgbClr val="162030"/>
          </a:solidFill>
          <a:ln w="254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576072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 — CONTENT PLANNING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99616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Plan this week's 7 pieces of content (IG, TikTok, YouTube Shorts)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Review what performed best last week — double down on top posts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Draft 1 email newsletter for Thursday send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706624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Check ad performance (Meta/TikTok) — kill anything below 1.5x ROAS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10896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Update content calendar in Notion — 2 weeks ahead always scheduled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024128"/>
            <a:ext cx="5760720" cy="2633472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024128"/>
            <a:ext cx="57607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080" y="1078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TUE — PRODUCTION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499616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Batch film 3–5 brand videos in STR property (your built-in studio)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901952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Photograph any new product additions for Shopify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304288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Edit Monday's drafted content using CapCut + Canva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706624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Write product descriptions or blog post for SEO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310896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Check Shopify store: abandoned carts, inventory status, reviews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67328"/>
            <a:ext cx="5760720" cy="2633472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767328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822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WED — COMMUNITY &amp; OUTREACH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242816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Engage with email list: reply to replies, answer DMs, thank buyers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645152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Membership platform: post 1 value piece in community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5047488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Pitch 1–2 brand collab opportunities (wellness brands, STR hosts)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5449824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YouTube: respond to all comments, optimize video SEO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585216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Affiliate partners: send monthly performance update, motivate team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767328"/>
            <a:ext cx="5760720" cy="2633472"/>
          </a:xfrm>
          <a:prstGeom prst="rect">
            <a:avLst/>
          </a:prstGeom>
          <a:solidFill>
            <a:srgbClr val="162030"/>
          </a:solidFill>
          <a:ln w="25400">
            <a:solidFill>
              <a:srgbClr val="2DCE8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3767328"/>
            <a:ext cx="5760720" cy="384048"/>
          </a:xfrm>
          <a:prstGeom prst="rect">
            <a:avLst/>
          </a:prstGeom>
          <a:solidFill>
            <a:srgbClr val="2DCE89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55080" y="3822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 — REVENUE REVIEW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4242816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Shopify revenue vs. last week — identify top sellers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4645152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Course/membership: new enrollments, churn rate, MRR change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5047488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Email list growth: new subscribers, unsubscribes, open rate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5449824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Ad spend vs. return: is each campaign profitable?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585216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Set next week's brand revenue goal — communicate to team/VA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FIRST 30 DAYS — COMPLETE ACTION CHECKLIST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do in the first 4 weeks. Print this. Check it off daily.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7607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4241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Create @StayVitalCollection on IG and TikTok (both free)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Download CapCut, Canva, Notion — set up on your phone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9385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Film 5 spec UGC videos — product demos, unboxings, lifestyle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1671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Build free portfolio page on Notion (link in bio)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3957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Create 1 pitch email template for cold outreach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6243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Research 20 DTC brands on TikTok ads library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8529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Send first 10 cold email pitches with portfolio link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0815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Sign up for Billo.app — create free creator profile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3101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Post first IG Reel + TikTok: 'Day 1 building StayVital'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5387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Open Relay business checking account (free, 5 minutes)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100584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1005840"/>
            <a:ext cx="57607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104241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14813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Follow up on Week 1 pitches (48-hour rule)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55080" y="17099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Send 15 new pitches (daily now)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19385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Film 3 more spec ads — diversify your niche portfolio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55080" y="21671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List on Fiverr: 'I'll create UGC videos for your brand'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5080" y="23957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List on Contra.com as UGC creator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55080" y="26243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Post daily on StayVital IG/TikTok (document the build)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55080" y="28529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GOAL: Book and complete your first paid UGC gig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55080" y="30815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Join 3 Facebook groups: UGC Creators, STR Mastermind, BiggerPockets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55080" y="33101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Open LegalZoom or ZenBusiness: begin LLC formation for Entity 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55080" y="353872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Download Wave app — set up free invoicing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88620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3886200"/>
            <a:ext cx="5760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92277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3616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File LLC paperwork: 'StayVital Media LLC' in your state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45902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Invoice and collect payment from first client(s)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8188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Pitch 15 brands/day — now with proven results to reference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50474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Study top 10 UGC ads in your niche on TikTok Creative Center (free)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" y="52760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Raise your base rate to $75–$100/video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55046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Reach out to 5 local Airbnb hosts offering co-hosting services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" y="57332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Create 'monthly UGC package' pitch: 4 videos for $350–$500/mo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59618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Post 1 case study: 'Results I got for [Brand] using UGC'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" y="61904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Subscribe to 1 STR newsletter: AirDNA Insights or Vacation Rental News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5760" y="64190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Calculate first income projection: what's your Month 2 goal?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3886200"/>
            <a:ext cx="5760720" cy="2761488"/>
          </a:xfrm>
          <a:prstGeom prst="rect">
            <a:avLst/>
          </a:prstGeom>
          <a:solidFill>
            <a:srgbClr val="162030"/>
          </a:solidFill>
          <a:ln w="25400">
            <a:solidFill>
              <a:srgbClr val="2DCE8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263640" y="3886200"/>
            <a:ext cx="5760720" cy="384048"/>
          </a:xfrm>
          <a:prstGeom prst="rect">
            <a:avLst/>
          </a:prstGeom>
          <a:solidFill>
            <a:srgbClr val="2DCE89"/>
          </a:solidFill>
          <a:ln w="12700">
            <a:solidFill>
              <a:srgbClr val="2DC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55080" y="392277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55080" y="43616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Recap Week 1–4: total pitches sent, income earned, deals in pipeline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55080" y="45902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Convert 1 client to a monthly retainer ($350–$600/mo for 3–4 videos)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55080" y="48188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Begin AirDNA research: identify 2–3 STR co-hosting targets near you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55080" y="50474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Post your Week 1 income result on StayVital social (accountability + brand)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55080" y="52760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Set Month 2 income goal: minimum $800 from UGC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355080" y="55046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Upgrade Notion portfolio with testimonials/results from Month 1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55080" y="57332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Draft co-hosting pitch email (BiggerPockets template available free)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55080" y="59618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Schedule weekly CEO time: every Sunday, review finances + set goals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55080" y="61904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Consume: BiggerPockets STR podcast OR 'STR Wealth Show' on YouTube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355080" y="6419088"/>
            <a:ext cx="5532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Print and post your 12-month income target where you'll see it daily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11978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VISION AT YEAR 5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🏡  5+ STR properties generating $30K–$40K/mo with a team managing the day-to-day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3911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StayVitalCollection brand earning $840K+/yr through products, courses, and memberships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5234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$4.8M+ brand equity — acquisition-ready, investment-ready, legacy-ready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65576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🧘  Working ON the business, not in it — creative freedom funded by passive income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78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Known as the go-to brand where wellness, travel, and entrepreneurship intersect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A community of thousands building their own version of the StayVital life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5687568"/>
            <a:ext cx="111556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58338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requires a trust fund. None of this requires a degree. It requires a phone, a plan, and the discipline to execute every single day.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38251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VITAL  |  STAY CONSISTENT  |  STAY BUILDING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9234</Words>
  <Application>Microsoft Macintosh PowerPoint</Application>
  <PresentationFormat>Widescreen</PresentationFormat>
  <Paragraphs>1286</Paragraphs>
  <Slides>27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StayVitalCollection Master Strategy v2</dc:title>
  <dc:subject>PptxGenJS Presentation</dc:subject>
  <dc:creator>PptxGenJS</dc:creator>
  <cp:lastModifiedBy>Park, Jiyoung</cp:lastModifiedBy>
  <cp:revision>2</cp:revision>
  <dcterms:created xsi:type="dcterms:W3CDTF">2026-03-11T03:03:18Z</dcterms:created>
  <dcterms:modified xsi:type="dcterms:W3CDTF">2026-03-16T23:12:45Z</dcterms:modified>
</cp:coreProperties>
</file>